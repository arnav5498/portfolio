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4"/>
  </p:sldMasterIdLst>
  <p:notesMasterIdLst>
    <p:notesMasterId r:id="rId11"/>
  </p:notesMasterIdLst>
  <p:handoutMasterIdLst>
    <p:handoutMasterId r:id="rId12"/>
  </p:handoutMasterIdLst>
  <p:sldIdLst>
    <p:sldId id="286" r:id="rId5"/>
    <p:sldId id="404" r:id="rId6"/>
    <p:sldId id="411" r:id="rId7"/>
    <p:sldId id="412" r:id="rId8"/>
    <p:sldId id="313" r:id="rId9"/>
    <p:sldId id="426" r:id="rId10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lance" id="{705054ED-DB56-FA4C-BB16-D35BDEFFF4C1}">
          <p14:sldIdLst>
            <p14:sldId id="286"/>
            <p14:sldId id="404"/>
            <p14:sldId id="411"/>
            <p14:sldId id="412"/>
            <p14:sldId id="313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024"/>
    <a:srgbClr val="F8FAFF"/>
    <a:srgbClr val="E4472D"/>
    <a:srgbClr val="000000"/>
    <a:srgbClr val="0177AD"/>
    <a:srgbClr val="1778C7"/>
    <a:srgbClr val="09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9A66A-2C0D-4E16-B26B-7B33D7A4CA0B}" v="372" dt="2025-01-29T17:14:25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32" d="100"/>
          <a:sy n="132" d="100"/>
        </p:scale>
        <p:origin x="5344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Mishra" userId="6769b734bb5a098f" providerId="LiveId" clId="{99A9A66A-2C0D-4E16-B26B-7B33D7A4CA0B}"/>
    <pc:docChg chg="undo custSel modSld">
      <pc:chgData name="Arnav Mishra" userId="6769b734bb5a098f" providerId="LiveId" clId="{99A9A66A-2C0D-4E16-B26B-7B33D7A4CA0B}" dt="2025-01-29T17:14:25.075" v="734" actId="20577"/>
      <pc:docMkLst>
        <pc:docMk/>
      </pc:docMkLst>
      <pc:sldChg chg="addSp delSp modSp mod delAnim modAnim">
        <pc:chgData name="Arnav Mishra" userId="6769b734bb5a098f" providerId="LiveId" clId="{99A9A66A-2C0D-4E16-B26B-7B33D7A4CA0B}" dt="2025-01-29T17:14:25.075" v="734" actId="20577"/>
        <pc:sldMkLst>
          <pc:docMk/>
          <pc:sldMk cId="149825300" sldId="313"/>
        </pc:sldMkLst>
        <pc:spChg chg="mod">
          <ac:chgData name="Arnav Mishra" userId="6769b734bb5a098f" providerId="LiveId" clId="{99A9A66A-2C0D-4E16-B26B-7B33D7A4CA0B}" dt="2025-01-26T23:34:00.486" v="461" actId="115"/>
          <ac:spMkLst>
            <pc:docMk/>
            <pc:sldMk cId="149825300" sldId="313"/>
            <ac:spMk id="12" creationId="{B6A93FEB-1E48-44AA-ED86-AC2FE7526909}"/>
          </ac:spMkLst>
        </pc:spChg>
        <pc:spChg chg="mod">
          <ac:chgData name="Arnav Mishra" userId="6769b734bb5a098f" providerId="LiveId" clId="{99A9A66A-2C0D-4E16-B26B-7B33D7A4CA0B}" dt="2025-01-28T17:26:57.840" v="704" actId="115"/>
          <ac:spMkLst>
            <pc:docMk/>
            <pc:sldMk cId="149825300" sldId="313"/>
            <ac:spMk id="16" creationId="{D87AE226-FD4F-BD38-89B1-C73A08149528}"/>
          </ac:spMkLst>
        </pc:spChg>
        <pc:spChg chg="mod">
          <ac:chgData name="Arnav Mishra" userId="6769b734bb5a098f" providerId="LiveId" clId="{99A9A66A-2C0D-4E16-B26B-7B33D7A4CA0B}" dt="2025-01-28T17:26:59.857" v="705" actId="115"/>
          <ac:spMkLst>
            <pc:docMk/>
            <pc:sldMk cId="149825300" sldId="313"/>
            <ac:spMk id="21" creationId="{D8A24E67-E03D-09F1-30FB-1F6C9E9FF090}"/>
          </ac:spMkLst>
        </pc:spChg>
        <pc:spChg chg="mod">
          <ac:chgData name="Arnav Mishra" userId="6769b734bb5a098f" providerId="LiveId" clId="{99A9A66A-2C0D-4E16-B26B-7B33D7A4CA0B}" dt="2025-01-29T17:14:25.075" v="734" actId="20577"/>
          <ac:spMkLst>
            <pc:docMk/>
            <pc:sldMk cId="149825300" sldId="313"/>
            <ac:spMk id="22" creationId="{9F855385-B9E8-C7EC-D6F4-56E1C21CD294}"/>
          </ac:spMkLst>
        </pc:spChg>
        <pc:picChg chg="add del mod">
          <ac:chgData name="Arnav Mishra" userId="6769b734bb5a098f" providerId="LiveId" clId="{99A9A66A-2C0D-4E16-B26B-7B33D7A4CA0B}" dt="2025-01-28T17:16:55.008" v="607" actId="478"/>
          <ac:picMkLst>
            <pc:docMk/>
            <pc:sldMk cId="149825300" sldId="313"/>
            <ac:picMk id="4" creationId="{BB4FE3D7-B00B-9352-4393-7DE70922E05D}"/>
          </ac:picMkLst>
        </pc:picChg>
        <pc:picChg chg="add mod">
          <ac:chgData name="Arnav Mishra" userId="6769b734bb5a098f" providerId="LiveId" clId="{99A9A66A-2C0D-4E16-B26B-7B33D7A4CA0B}" dt="2025-01-28T17:17:54.835" v="623" actId="1076"/>
          <ac:picMkLst>
            <pc:docMk/>
            <pc:sldMk cId="149825300" sldId="313"/>
            <ac:picMk id="5" creationId="{D11C26F4-63A0-5C6A-A346-3079C5AD79C1}"/>
          </ac:picMkLst>
        </pc:picChg>
      </pc:sldChg>
      <pc:sldChg chg="addSp delSp modSp mod addAnim delAnim modAnim">
        <pc:chgData name="Arnav Mishra" userId="6769b734bb5a098f" providerId="LiveId" clId="{99A9A66A-2C0D-4E16-B26B-7B33D7A4CA0B}" dt="2025-01-28T00:22:38.486" v="503" actId="14100"/>
        <pc:sldMkLst>
          <pc:docMk/>
          <pc:sldMk cId="377480830" sldId="404"/>
        </pc:sldMkLst>
        <pc:spChg chg="mod">
          <ac:chgData name="Arnav Mishra" userId="6769b734bb5a098f" providerId="LiveId" clId="{99A9A66A-2C0D-4E16-B26B-7B33D7A4CA0B}" dt="2025-01-26T21:52:30.094" v="2" actId="20577"/>
          <ac:spMkLst>
            <pc:docMk/>
            <pc:sldMk cId="377480830" sldId="404"/>
            <ac:spMk id="9" creationId="{4F83CE0B-8369-A54E-304C-936C476A85DC}"/>
          </ac:spMkLst>
        </pc:spChg>
        <pc:graphicFrameChg chg="add mod modGraphic">
          <ac:chgData name="Arnav Mishra" userId="6769b734bb5a098f" providerId="LiveId" clId="{99A9A66A-2C0D-4E16-B26B-7B33D7A4CA0B}" dt="2025-01-28T00:22:38.486" v="503" actId="14100"/>
          <ac:graphicFrameMkLst>
            <pc:docMk/>
            <pc:sldMk cId="377480830" sldId="404"/>
            <ac:graphicFrameMk id="2" creationId="{57A9C911-34A8-26CC-A685-96FA34973400}"/>
          </ac:graphicFrameMkLst>
        </pc:graphicFrameChg>
        <pc:graphicFrameChg chg="add mod modGraphic">
          <ac:chgData name="Arnav Mishra" userId="6769b734bb5a098f" providerId="LiveId" clId="{99A9A66A-2C0D-4E16-B26B-7B33D7A4CA0B}" dt="2025-01-26T21:58:52.511" v="72" actId="122"/>
          <ac:graphicFrameMkLst>
            <pc:docMk/>
            <pc:sldMk cId="377480830" sldId="404"/>
            <ac:graphicFrameMk id="7" creationId="{9387F686-796D-0B13-4E51-271FA036B65E}"/>
          </ac:graphicFrameMkLst>
        </pc:graphicFrameChg>
      </pc:sldChg>
      <pc:sldChg chg="addSp delSp modSp mod addAnim delAnim modAnim">
        <pc:chgData name="Arnav Mishra" userId="6769b734bb5a098f" providerId="LiveId" clId="{99A9A66A-2C0D-4E16-B26B-7B33D7A4CA0B}" dt="2025-01-28T16:15:54.208" v="569" actId="20577"/>
        <pc:sldMkLst>
          <pc:docMk/>
          <pc:sldMk cId="384371188" sldId="411"/>
        </pc:sldMkLst>
        <pc:spChg chg="add mod">
          <ac:chgData name="Arnav Mishra" userId="6769b734bb5a098f" providerId="LiveId" clId="{99A9A66A-2C0D-4E16-B26B-7B33D7A4CA0B}" dt="2025-01-28T16:14:52.173" v="557" actId="20577"/>
          <ac:spMkLst>
            <pc:docMk/>
            <pc:sldMk cId="384371188" sldId="411"/>
            <ac:spMk id="7" creationId="{3EE1168D-B7A5-4403-48EA-C0DF750E0618}"/>
          </ac:spMkLst>
        </pc:spChg>
        <pc:spChg chg="add">
          <ac:chgData name="Arnav Mishra" userId="6769b734bb5a098f" providerId="LiveId" clId="{99A9A66A-2C0D-4E16-B26B-7B33D7A4CA0B}" dt="2025-01-28T16:11:17.578" v="518"/>
          <ac:spMkLst>
            <pc:docMk/>
            <pc:sldMk cId="384371188" sldId="411"/>
            <ac:spMk id="8" creationId="{7B0D5E06-68D3-5BA7-5FB8-1BA97F840972}"/>
          </ac:spMkLst>
        </pc:spChg>
        <pc:spChg chg="mod">
          <ac:chgData name="Arnav Mishra" userId="6769b734bb5a098f" providerId="LiveId" clId="{99A9A66A-2C0D-4E16-B26B-7B33D7A4CA0B}" dt="2025-01-28T16:15:47.019" v="565" actId="20577"/>
          <ac:spMkLst>
            <pc:docMk/>
            <pc:sldMk cId="384371188" sldId="411"/>
            <ac:spMk id="9" creationId="{C2C557F0-6987-D91A-75E3-E3E8952DB0B2}"/>
          </ac:spMkLst>
        </pc:spChg>
        <pc:spChg chg="mod">
          <ac:chgData name="Arnav Mishra" userId="6769b734bb5a098f" providerId="LiveId" clId="{99A9A66A-2C0D-4E16-B26B-7B33D7A4CA0B}" dt="2025-01-28T16:15:54.208" v="569" actId="20577"/>
          <ac:spMkLst>
            <pc:docMk/>
            <pc:sldMk cId="384371188" sldId="411"/>
            <ac:spMk id="11" creationId="{1DA4A785-CED1-39E8-D17D-300A622B0A0B}"/>
          </ac:spMkLst>
        </pc:spChg>
        <pc:cxnChg chg="add del">
          <ac:chgData name="Arnav Mishra" userId="6769b734bb5a098f" providerId="LiveId" clId="{99A9A66A-2C0D-4E16-B26B-7B33D7A4CA0B}" dt="2025-01-28T16:08:50.516" v="510" actId="478"/>
          <ac:cxnSpMkLst>
            <pc:docMk/>
            <pc:sldMk cId="384371188" sldId="411"/>
            <ac:cxnSpMk id="4" creationId="{5C62E12A-D8D2-04B8-5F29-40AE7C015D0E}"/>
          </ac:cxnSpMkLst>
        </pc:cxnChg>
        <pc:cxnChg chg="add mod">
          <ac:chgData name="Arnav Mishra" userId="6769b734bb5a098f" providerId="LiveId" clId="{99A9A66A-2C0D-4E16-B26B-7B33D7A4CA0B}" dt="2025-01-28T16:13:30.619" v="546" actId="1076"/>
          <ac:cxnSpMkLst>
            <pc:docMk/>
            <pc:sldMk cId="384371188" sldId="411"/>
            <ac:cxnSpMk id="6" creationId="{0798C769-F0E7-CF23-407D-14A82BE43CBE}"/>
          </ac:cxnSpMkLst>
        </pc:cxnChg>
        <pc:cxnChg chg="mod">
          <ac:chgData name="Arnav Mishra" userId="6769b734bb5a098f" providerId="LiveId" clId="{99A9A66A-2C0D-4E16-B26B-7B33D7A4CA0B}" dt="2025-01-28T16:09:01.667" v="512" actId="1076"/>
          <ac:cxnSpMkLst>
            <pc:docMk/>
            <pc:sldMk cId="384371188" sldId="411"/>
            <ac:cxnSpMk id="18" creationId="{D9DE6EBD-B51E-B979-1EC8-E1F04C59A9C6}"/>
          </ac:cxnSpMkLst>
        </pc:cxnChg>
      </pc:sldChg>
      <pc:sldChg chg="addSp delSp modSp mod delAnim modAnim">
        <pc:chgData name="Arnav Mishra" userId="6769b734bb5a098f" providerId="LiveId" clId="{99A9A66A-2C0D-4E16-B26B-7B33D7A4CA0B}" dt="2025-01-28T17:28:03.268" v="730" actId="115"/>
        <pc:sldMkLst>
          <pc:docMk/>
          <pc:sldMk cId="1765187564" sldId="412"/>
        </pc:sldMkLst>
        <pc:spChg chg="mod">
          <ac:chgData name="Arnav Mishra" userId="6769b734bb5a098f" providerId="LiveId" clId="{99A9A66A-2C0D-4E16-B26B-7B33D7A4CA0B}" dt="2025-01-28T17:28:03.268" v="730" actId="115"/>
          <ac:spMkLst>
            <pc:docMk/>
            <pc:sldMk cId="1765187564" sldId="412"/>
            <ac:spMk id="13" creationId="{511A7EC1-F12C-264A-DB43-D6653FE9AD7A}"/>
          </ac:spMkLst>
        </pc:spChg>
        <pc:spChg chg="add mod">
          <ac:chgData name="Arnav Mishra" userId="6769b734bb5a098f" providerId="LiveId" clId="{99A9A66A-2C0D-4E16-B26B-7B33D7A4CA0B}" dt="2025-01-28T17:01:38.953" v="599" actId="1076"/>
          <ac:spMkLst>
            <pc:docMk/>
            <pc:sldMk cId="1765187564" sldId="412"/>
            <ac:spMk id="15" creationId="{03F0B803-65C5-E8F3-8C34-8BB0B60A96F3}"/>
          </ac:spMkLst>
        </pc:spChg>
        <pc:graphicFrameChg chg="add mod modGraphic">
          <ac:chgData name="Arnav Mishra" userId="6769b734bb5a098f" providerId="LiveId" clId="{99A9A66A-2C0D-4E16-B26B-7B33D7A4CA0B}" dt="2025-01-28T16:59:46.805" v="596" actId="1076"/>
          <ac:graphicFrameMkLst>
            <pc:docMk/>
            <pc:sldMk cId="1765187564" sldId="412"/>
            <ac:graphicFrameMk id="6" creationId="{377EBE10-6D6F-850C-6383-DE4D91C9246C}"/>
          </ac:graphicFrameMkLst>
        </pc:graphicFrameChg>
        <pc:graphicFrameChg chg="add del mod modGraphic">
          <ac:chgData name="Arnav Mishra" userId="6769b734bb5a098f" providerId="LiveId" clId="{99A9A66A-2C0D-4E16-B26B-7B33D7A4CA0B}" dt="2025-01-28T16:57:12.170" v="572" actId="478"/>
          <ac:graphicFrameMkLst>
            <pc:docMk/>
            <pc:sldMk cId="1765187564" sldId="412"/>
            <ac:graphicFrameMk id="7" creationId="{0031F949-243C-A12F-D73C-A64DCD16E244}"/>
          </ac:graphicFrameMkLst>
        </pc:graphicFrameChg>
        <pc:picChg chg="add mod">
          <ac:chgData name="Arnav Mishra" userId="6769b734bb5a098f" providerId="LiveId" clId="{99A9A66A-2C0D-4E16-B26B-7B33D7A4CA0B}" dt="2025-01-28T16:58:37.751" v="585" actId="1076"/>
          <ac:picMkLst>
            <pc:docMk/>
            <pc:sldMk cId="1765187564" sldId="412"/>
            <ac:picMk id="5" creationId="{D3CC5BFF-09A8-6BBA-F8D4-A42F07D9228F}"/>
          </ac:picMkLst>
        </pc:picChg>
        <pc:picChg chg="add del mod ord">
          <ac:chgData name="Arnav Mishra" userId="6769b734bb5a098f" providerId="LiveId" clId="{99A9A66A-2C0D-4E16-B26B-7B33D7A4CA0B}" dt="2025-01-28T16:57:05.350" v="570" actId="478"/>
          <ac:picMkLst>
            <pc:docMk/>
            <pc:sldMk cId="1765187564" sldId="412"/>
            <ac:picMk id="9" creationId="{3B08F8B8-FE49-1232-1FC3-49E83E52A696}"/>
          </ac:picMkLst>
        </pc:picChg>
        <pc:cxnChg chg="add mod">
          <ac:chgData name="Arnav Mishra" userId="6769b734bb5a098f" providerId="LiveId" clId="{99A9A66A-2C0D-4E16-B26B-7B33D7A4CA0B}" dt="2025-01-28T16:59:38.890" v="595" actId="14100"/>
          <ac:cxnSpMkLst>
            <pc:docMk/>
            <pc:sldMk cId="1765187564" sldId="412"/>
            <ac:cxnSpMk id="10" creationId="{C34FD2D4-4AF8-06DF-81F7-FAC2908CA118}"/>
          </ac:cxnSpMkLst>
        </pc:cxnChg>
        <pc:cxnChg chg="mod">
          <ac:chgData name="Arnav Mishra" userId="6769b734bb5a098f" providerId="LiveId" clId="{99A9A66A-2C0D-4E16-B26B-7B33D7A4CA0B}" dt="2025-01-26T23:11:10.997" v="444" actId="1035"/>
          <ac:cxnSpMkLst>
            <pc:docMk/>
            <pc:sldMk cId="1765187564" sldId="412"/>
            <ac:cxnSpMk id="12" creationId="{DA88D001-867C-2D4C-1E44-E6CECF333157}"/>
          </ac:cxnSpMkLst>
        </pc:cxnChg>
      </pc:sldChg>
      <pc:sldChg chg="modSp modAnim">
        <pc:chgData name="Arnav Mishra" userId="6769b734bb5a098f" providerId="LiveId" clId="{99A9A66A-2C0D-4E16-B26B-7B33D7A4CA0B}" dt="2025-01-28T17:27:54.554" v="727" actId="113"/>
        <pc:sldMkLst>
          <pc:docMk/>
          <pc:sldMk cId="3778966850" sldId="426"/>
        </pc:sldMkLst>
        <pc:spChg chg="mod">
          <ac:chgData name="Arnav Mishra" userId="6769b734bb5a098f" providerId="LiveId" clId="{99A9A66A-2C0D-4E16-B26B-7B33D7A4CA0B}" dt="2025-01-28T17:27:54.554" v="727" actId="113"/>
          <ac:spMkLst>
            <pc:docMk/>
            <pc:sldMk cId="3778966850" sldId="426"/>
            <ac:spMk id="4" creationId="{C5446D93-7FC4-F395-ED33-1A017949B964}"/>
          </ac:spMkLst>
        </pc:spChg>
        <pc:spChg chg="mod">
          <ac:chgData name="Arnav Mishra" userId="6769b734bb5a098f" providerId="LiveId" clId="{99A9A66A-2C0D-4E16-B26B-7B33D7A4CA0B}" dt="2025-01-28T17:27:31.922" v="718" actId="113"/>
          <ac:spMkLst>
            <pc:docMk/>
            <pc:sldMk cId="3778966850" sldId="426"/>
            <ac:spMk id="5" creationId="{54F6DF91-299E-5412-0B7D-59CB81892C85}"/>
          </ac:spMkLst>
        </pc:spChg>
        <pc:spChg chg="mod">
          <ac:chgData name="Arnav Mishra" userId="6769b734bb5a098f" providerId="LiveId" clId="{99A9A66A-2C0D-4E16-B26B-7B33D7A4CA0B}" dt="2025-01-28T17:26:53.349" v="703" actId="115"/>
          <ac:spMkLst>
            <pc:docMk/>
            <pc:sldMk cId="3778966850" sldId="426"/>
            <ac:spMk id="6" creationId="{982DC8BF-F19D-0C1A-EEF3-981B097020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EBAF-D955-C443-AB02-2BCBC779757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C8B-0A09-DC4E-ABCE-FAAA12F03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74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A641A-FC50-3840-A830-42D90553FE8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96355-3DDC-9949-861F-AD0908BFC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3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5" name="Номер слайда 21"/>
          <p:cNvSpPr txBox="1">
            <a:spLocks/>
          </p:cNvSpPr>
          <p:nvPr userDrawn="1"/>
        </p:nvSpPr>
        <p:spPr>
          <a:xfrm>
            <a:off x="388273" y="65712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899" y="4246128"/>
            <a:ext cx="8046357" cy="243873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2618190"/>
            <a:ext cx="474726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45212"/>
          </a:xfrm>
        </p:spPr>
        <p:txBody>
          <a:bodyPr>
            <a:noAutofit/>
          </a:bodyPr>
          <a:lstStyle>
            <a:lvl1pPr algn="l"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7C995C6-BBB5-3B4F-9763-5F55B391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1661159"/>
            <a:ext cx="9753600" cy="475771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1181100"/>
            <a:ext cx="69723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3927944"/>
            <a:ext cx="11201400" cy="293005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9860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4055602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738977" y="4055602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487355" y="4055602"/>
            <a:ext cx="3704646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441411"/>
            <a:ext cx="9753600" cy="810810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1493520"/>
            <a:ext cx="9753600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66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1349951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738977" y="1349951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487355" y="1349951"/>
            <a:ext cx="3704646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441411"/>
            <a:ext cx="9753600" cy="81081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500542"/>
            <a:ext cx="9753600" cy="205041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744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7843520" y="0"/>
            <a:ext cx="4348481" cy="685446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5570220" cy="138738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5570220" cy="40507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0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7843520" y="1"/>
            <a:ext cx="434848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5570220" cy="138738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5570220" cy="40507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5082EFB-1114-FE47-B838-2915F2B9B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520" y="3444241"/>
            <a:ext cx="4348481" cy="341375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092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8593373" y="1"/>
            <a:ext cx="3598627" cy="228997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8593373" y="2289977"/>
            <a:ext cx="3598627" cy="228997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593373" y="4573989"/>
            <a:ext cx="3598627" cy="228401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5D61D25-2C22-8E45-A9B3-AAB911B76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6129020" cy="1459697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12658E-CB5A-AF48-A644-353403DB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6129020" cy="426185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6645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1" y="1561736"/>
            <a:ext cx="2385785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22839" y="1561736"/>
            <a:ext cx="2385785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778777" y="1561736"/>
            <a:ext cx="4841723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167AA0B1-6033-2F4D-A765-7D17EAA029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64931"/>
            <a:ext cx="9753600" cy="726990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59E27A-E0B3-884A-B625-74AD7AB97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859381"/>
            <a:ext cx="9753600" cy="17866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866900" y="1607819"/>
            <a:ext cx="9753600" cy="4811058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662482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62432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0269"/>
            <a:ext cx="6414052" cy="243873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43B03-7CB5-694C-A06A-B8D051D0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3667761"/>
            <a:ext cx="4229100" cy="2978280"/>
          </a:xfrm>
        </p:spPr>
        <p:txBody>
          <a:bodyPr/>
          <a:lstStyle>
            <a:lvl1pPr marL="457200" indent="-457200">
              <a:buClr>
                <a:srgbClr val="1778C7"/>
              </a:buClr>
              <a:buFont typeface="System Font Regular"/>
              <a:buChar char="■"/>
              <a:defRPr/>
            </a:lvl1pPr>
            <a:lvl2pPr marL="285750" indent="-285750">
              <a:buClr>
                <a:srgbClr val="1778C7"/>
              </a:buClr>
              <a:buFont typeface="System Font Regular"/>
              <a:buChar char="■"/>
              <a:defRPr/>
            </a:lvl2pPr>
            <a:lvl3pPr marL="171450" indent="-171450">
              <a:buClr>
                <a:srgbClr val="1778C7"/>
              </a:buClr>
              <a:buFont typeface="System Font Regular"/>
              <a:buChar char="■"/>
              <a:defRPr/>
            </a:lvl3pPr>
            <a:lvl4pPr marL="171450" indent="-171450">
              <a:buClr>
                <a:srgbClr val="1778C7"/>
              </a:buClr>
              <a:buFont typeface="System Font Regular"/>
              <a:buChar char="■"/>
              <a:defRPr/>
            </a:lvl4pPr>
            <a:lvl5pPr marL="171450" indent="-171450">
              <a:buClr>
                <a:srgbClr val="1778C7"/>
              </a:buClr>
              <a:buFont typeface="System Font Regular"/>
              <a:buChar char="■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20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62432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7763118-0811-A045-907D-A37A39B47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249" y="664745"/>
            <a:ext cx="4560751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C4E96E-0DBC-9741-978E-351DF7CF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249" y="2526750"/>
            <a:ext cx="4560751" cy="3670850"/>
          </a:xfrm>
        </p:spPr>
        <p:txBody>
          <a:bodyPr/>
          <a:lstStyle>
            <a:lvl1pPr marL="457200" indent="-457200">
              <a:buClr>
                <a:schemeClr val="accent6"/>
              </a:buClr>
              <a:buFont typeface="System Font Regular"/>
              <a:buChar char="■"/>
              <a:defRPr/>
            </a:lvl1pPr>
            <a:lvl2pPr marL="285750" indent="-285750">
              <a:buClr>
                <a:schemeClr val="accent6"/>
              </a:buClr>
              <a:buFont typeface="System Font Regular"/>
              <a:buChar char="■"/>
              <a:defRPr/>
            </a:lvl2pPr>
            <a:lvl3pPr marL="171450" indent="-171450">
              <a:buClr>
                <a:schemeClr val="accent6"/>
              </a:buClr>
              <a:buFont typeface="System Font Regular"/>
              <a:buChar char="■"/>
              <a:defRPr/>
            </a:lvl3pPr>
            <a:lvl4pPr marL="171450" indent="-171450">
              <a:buClr>
                <a:schemeClr val="accent6"/>
              </a:buClr>
              <a:buFont typeface="System Font Regular"/>
              <a:buChar char="■"/>
              <a:defRPr/>
            </a:lvl4pPr>
            <a:lvl5pPr marL="171450" indent="-171450">
              <a:buClr>
                <a:schemeClr val="accent6"/>
              </a:buClr>
              <a:buFont typeface="System Font Regular"/>
              <a:buChar char="■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235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5206448" y="990269"/>
            <a:ext cx="6414052" cy="2438731"/>
          </a:xfrm>
        </p:spPr>
        <p:txBody>
          <a:bodyPr/>
          <a:lstStyle>
            <a:lvl1pPr algn="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43B03-7CB5-694C-A06A-B8D051D0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0" y="3667761"/>
            <a:ext cx="4508500" cy="297828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3050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51054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6531429" y="664745"/>
            <a:ext cx="5089071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53C0E3-CA06-FF4E-9268-38C763A24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2526750"/>
            <a:ext cx="5089071" cy="36708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3987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1120140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371547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A2D389-5092-B541-B85C-948DD9C9B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480" y="3715470"/>
            <a:ext cx="5240020" cy="293057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1806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866900" y="3429000"/>
            <a:ext cx="1032510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913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4CFFCC-3559-F84D-A042-1BAFB259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480" y="691325"/>
            <a:ext cx="5240020" cy="228555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660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0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F1E9CA4-55FC-8A40-824F-09EDA9DCB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910E763-4396-F74C-8903-82D9802B2D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9701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E94BA5C2-38F4-E14F-AA9C-C3DFC99975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92502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A9FCD912-C26A-6644-A093-938CD0712E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3700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2B2E5B3A-B4B2-BD4F-AB85-BFF95E3A2A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394898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CC35ADD1-35FD-C44E-BAE2-21F1D63D4DE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046096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4A064768-5B8B-5740-B764-CCD1215AD7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66900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8ACE225-1838-3544-957D-AACCA7BE3A1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79701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FD0641E4-640F-8D4E-8C69-BFEE014364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092502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DBFC0DE-039B-2F4E-BFBC-2E3DA036434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743700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5EA1B11-E5B8-9149-BBE6-13ADFB08F8B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394898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CDDA7D5-E29D-2F4F-9BBE-E4BC874FC1D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046096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D39CEE3D-7E7A-494C-B8D1-6A561A1F8C6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6900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D2F2FBF1-42C4-084B-9B8F-8A6BB412FDF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479701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99001851-0A29-5945-8461-09C32A1DF56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092502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DC1D8B20-1A51-9C4A-ABDD-DD48B5D1C27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43700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5AA24CC2-0B66-B34D-A228-6AE40A8DE75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94898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5FA8BDB8-5757-C142-AC90-BC8AD95844D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046096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65AA2FDC-1BAC-F24E-85E0-00EBEC7473C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866900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72982FDD-C863-2C47-A976-BFBF4777637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79701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1D2AA8B1-2C53-7940-A97F-72E577896EC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092502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B695AF4D-D6DC-0944-98EC-F2C964A6D13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743700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002E033C-4E61-6B4F-B553-C83E76F94D8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394898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750A9437-CEAD-0741-8012-DFC58613492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0046096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611979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F1E9CA4-55FC-8A40-824F-09EDA9DCB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AB69879B-EE95-2340-855D-A9E3FF45B3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81755F83-CEE1-CA4F-9CB2-AD8AF9461F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690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34924851-6C37-C84F-A630-EA87C879C7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9674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1591A003-2C51-8747-8121-A00901B695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2658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E5FC3E9F-0D6F-1A4B-9B98-7EEBF5AEADC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5642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CEC3CD0E-BFD8-D741-B22E-22F2F41C4F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74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8" name="Picture Placeholder 4">
            <a:extLst>
              <a:ext uri="{FF2B5EF4-FFF2-40B4-BE49-F238E27FC236}">
                <a16:creationId xmlns:a16="http://schemas.microsoft.com/office/drawing/2014/main" id="{0460D3CE-95FD-684A-91A1-6CCB6968556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2658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49" name="Picture Placeholder 4">
            <a:extLst>
              <a:ext uri="{FF2B5EF4-FFF2-40B4-BE49-F238E27FC236}">
                <a16:creationId xmlns:a16="http://schemas.microsoft.com/office/drawing/2014/main" id="{B8B8D087-5B4B-8141-8DB9-81770800BD1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45642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50" name="Picture Placeholder 4">
            <a:extLst>
              <a:ext uri="{FF2B5EF4-FFF2-40B4-BE49-F238E27FC236}">
                <a16:creationId xmlns:a16="http://schemas.microsoft.com/office/drawing/2014/main" id="{BB5C1B6D-1803-8645-8E13-7DE2A58DE4D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9674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285C2B50-7632-3747-84F1-900493205CD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2658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B105B2B0-0C44-D34D-837F-9F695FD2187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5642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2405156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0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5244737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8622575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745"/>
            <a:ext cx="9753600" cy="757655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F39EDD-56E0-DB41-A5F7-712481027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844631"/>
            <a:ext cx="9753600" cy="180141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43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7086600" y="0"/>
            <a:ext cx="51054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261819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1181100"/>
            <a:ext cx="1406070" cy="1406070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448707" y="762906"/>
            <a:ext cx="2242457" cy="2242457"/>
          </a:xfrm>
          <a:prstGeom prst="ellipse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7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11201400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060350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745"/>
            <a:ext cx="751078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394335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01980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09625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1" hasCustomPrompt="1"/>
          </p:nvPr>
        </p:nvSpPr>
        <p:spPr>
          <a:xfrm>
            <a:off x="10172700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2" hasCustomPrompt="1"/>
          </p:nvPr>
        </p:nvSpPr>
        <p:spPr>
          <a:xfrm>
            <a:off x="186690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23" hasCustomPrompt="1"/>
          </p:nvPr>
        </p:nvSpPr>
        <p:spPr>
          <a:xfrm>
            <a:off x="394335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24" hasCustomPrompt="1"/>
          </p:nvPr>
        </p:nvSpPr>
        <p:spPr>
          <a:xfrm>
            <a:off x="601980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25" hasCustomPrompt="1"/>
          </p:nvPr>
        </p:nvSpPr>
        <p:spPr>
          <a:xfrm>
            <a:off x="809625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6" hasCustomPrompt="1"/>
          </p:nvPr>
        </p:nvSpPr>
        <p:spPr>
          <a:xfrm>
            <a:off x="10172700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54585"/>
            <a:ext cx="593598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394335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01980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09625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1" hasCustomPrompt="1"/>
          </p:nvPr>
        </p:nvSpPr>
        <p:spPr>
          <a:xfrm>
            <a:off x="10172700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/>
              <a:t>Drag &amp; Drop Image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6900" y="994934"/>
            <a:ext cx="9753600" cy="1487862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 dirty="0"/>
              <a:t>YOUR TITLE HERE</a:t>
            </a:r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866900" y="2514600"/>
            <a:ext cx="9753600" cy="311044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rgbClr val="EE3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5E9AFA-5FE4-944B-BC1C-BFB852B88888}"/>
              </a:ext>
            </a:extLst>
          </p:cNvPr>
          <p:cNvSpPr txBox="1"/>
          <p:nvPr userDrawn="1"/>
        </p:nvSpPr>
        <p:spPr>
          <a:xfrm rot="5400000">
            <a:off x="-2107580" y="2687443"/>
            <a:ext cx="5185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EE30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  STRATHCLYDE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35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73" r:id="rId8"/>
    <p:sldLayoutId id="2147484074" r:id="rId9"/>
    <p:sldLayoutId id="2147484076" r:id="rId10"/>
    <p:sldLayoutId id="2147484016" r:id="rId11"/>
    <p:sldLayoutId id="2147484048" r:id="rId12"/>
    <p:sldLayoutId id="2147484024" r:id="rId13"/>
    <p:sldLayoutId id="2147484078" r:id="rId14"/>
    <p:sldLayoutId id="2147484029" r:id="rId15"/>
    <p:sldLayoutId id="2147484075" r:id="rId16"/>
    <p:sldLayoutId id="2147484040" r:id="rId17"/>
    <p:sldLayoutId id="2147484030" r:id="rId18"/>
    <p:sldLayoutId id="2147484031" r:id="rId19"/>
    <p:sldLayoutId id="2147484032" r:id="rId20"/>
    <p:sldLayoutId id="2147484077" r:id="rId21"/>
    <p:sldLayoutId id="2147484036" r:id="rId22"/>
    <p:sldLayoutId id="2147484044" r:id="rId23"/>
    <p:sldLayoutId id="2147484045" r:id="rId24"/>
    <p:sldLayoutId id="2147484046" r:id="rId25"/>
    <p:sldLayoutId id="2147484049" r:id="rId26"/>
    <p:sldLayoutId id="2147484050" r:id="rId27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400" kern="1200" spc="-1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18" rtl="0" eaLnBrk="1" latinLnBrk="0" hangingPunct="1">
        <a:lnSpc>
          <a:spcPct val="120000"/>
        </a:lnSpc>
        <a:spcBef>
          <a:spcPts val="1000"/>
        </a:spcBef>
        <a:buClr>
          <a:srgbClr val="0177AD"/>
        </a:buClr>
        <a:buFont typeface="Wingdings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0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28" pos="624" userDrawn="1">
          <p15:clr>
            <a:srgbClr val="F26B43"/>
          </p15:clr>
        </p15:guide>
        <p15:guide id="29" pos="7320" userDrawn="1">
          <p15:clr>
            <a:srgbClr val="F26B43"/>
          </p15:clr>
        </p15:guide>
        <p15:guide id="48" pos="1176" userDrawn="1">
          <p15:clr>
            <a:srgbClr val="F26B43"/>
          </p15:clr>
        </p15:guide>
        <p15:guide id="51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5">
            <a:extLst>
              <a:ext uri="{FF2B5EF4-FFF2-40B4-BE49-F238E27FC236}">
                <a16:creationId xmlns:a16="http://schemas.microsoft.com/office/drawing/2014/main" id="{4F183323-F61F-2844-A2C6-683FFA5DFC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t="7401" r="1" b="17357"/>
          <a:stretch/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4ECAD45-AA33-C745-9964-06DF21E09A84}"/>
              </a:ext>
            </a:extLst>
          </p:cNvPr>
          <p:cNvSpPr/>
          <p:nvPr/>
        </p:nvSpPr>
        <p:spPr>
          <a:xfrm>
            <a:off x="-25870" y="0"/>
            <a:ext cx="12217869" cy="6858000"/>
          </a:xfrm>
          <a:prstGeom prst="rect">
            <a:avLst/>
          </a:prstGeom>
          <a:solidFill>
            <a:srgbClr val="EE302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>
                <a:solidFill>
                  <a:schemeClr val="bg1">
                    <a:alpha val="70000"/>
                  </a:schemeClr>
                </a:solidFill>
              </a:rPr>
              <a:pPr/>
              <a:t>1</a:t>
            </a:fld>
            <a:endParaRPr lang="en-US" dirty="0">
              <a:solidFill>
                <a:schemeClr val="bg1">
                  <a:alpha val="70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98611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26385C-432A-3144-9F69-E71B7958A415}"/>
              </a:ext>
            </a:extLst>
          </p:cNvPr>
          <p:cNvSpPr txBox="1"/>
          <p:nvPr/>
        </p:nvSpPr>
        <p:spPr>
          <a:xfrm rot="5400000">
            <a:off x="-2002843" y="3573336"/>
            <a:ext cx="5185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300" dirty="0">
                <a:solidFill>
                  <a:schemeClr val="bg1"/>
                </a:solidFill>
                <a:latin typeface="Montserrat" pitchFamily="2" charset="77"/>
              </a:rPr>
              <a:t>Managing Value-Driven Analytics (MVDA)</a:t>
            </a:r>
            <a:endParaRPr lang="en-US" sz="2000" spc="3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0D6BCB-A5D5-804A-A7EA-84EA82794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758" y="233284"/>
            <a:ext cx="2065663" cy="1561670"/>
          </a:xfrm>
          <a:prstGeom prst="rect">
            <a:avLst/>
          </a:prstGeom>
        </p:spPr>
      </p:pic>
      <p:sp>
        <p:nvSpPr>
          <p:cNvPr id="16" name="Title 2">
            <a:extLst>
              <a:ext uri="{FF2B5EF4-FFF2-40B4-BE49-F238E27FC236}">
                <a16:creationId xmlns:a16="http://schemas.microsoft.com/office/drawing/2014/main" id="{9CDDADF0-8D2D-044D-A74A-98636F727B38}"/>
              </a:ext>
            </a:extLst>
          </p:cNvPr>
          <p:cNvSpPr txBox="1">
            <a:spLocks/>
          </p:cNvSpPr>
          <p:nvPr/>
        </p:nvSpPr>
        <p:spPr>
          <a:xfrm>
            <a:off x="1451112" y="2638011"/>
            <a:ext cx="7735715" cy="1452208"/>
          </a:xfrm>
          <a:prstGeom prst="rect">
            <a:avLst/>
          </a:prstGeo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spc="-15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Strategic Funding Decisions for SAFH: </a:t>
            </a:r>
            <a:r>
              <a:rPr lang="en-US" sz="2800" spc="300" dirty="0">
                <a:solidFill>
                  <a:schemeClr val="bg1"/>
                </a:solidFill>
                <a:latin typeface="+mn-lt"/>
              </a:rPr>
              <a:t>Stakeholder focus - W.H.O.</a:t>
            </a:r>
            <a:endParaRPr lang="en-US" sz="2800" spc="300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endParaRPr lang="en-US" sz="3200" spc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7D6245C7-6C64-4E32-67EF-934BFBA72D2F}"/>
              </a:ext>
            </a:extLst>
          </p:cNvPr>
          <p:cNvSpPr/>
          <p:nvPr/>
        </p:nvSpPr>
        <p:spPr>
          <a:xfrm>
            <a:off x="176134" y="478082"/>
            <a:ext cx="776105" cy="657911"/>
          </a:xfrm>
          <a:prstGeom prst="mathMultipl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B2B1BA-5CB3-29E9-AEA1-BADE3F5083CC}"/>
              </a:ext>
            </a:extLst>
          </p:cNvPr>
          <p:cNvCxnSpPr>
            <a:cxnSpLocks/>
          </p:cNvCxnSpPr>
          <p:nvPr/>
        </p:nvCxnSpPr>
        <p:spPr>
          <a:xfrm>
            <a:off x="2015613" y="3409336"/>
            <a:ext cx="74626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102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1168DB-50D4-F67A-E226-5E79D4AA2515}"/>
              </a:ext>
            </a:extLst>
          </p:cNvPr>
          <p:cNvSpPr txBox="1"/>
          <p:nvPr/>
        </p:nvSpPr>
        <p:spPr>
          <a:xfrm>
            <a:off x="1317522" y="243659"/>
            <a:ext cx="4168876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Chosen Stakeholder: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World Health Organization (WHO).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Priorities</a:t>
            </a:r>
            <a:r>
              <a:rPr lang="en-US" b="1" dirty="0"/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disease burden (DALYs)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Promote equity (reduce OOPS)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Ensure scalability (Population Size)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E09C4-D301-4467-D0E2-6877AEF75D8C}"/>
              </a:ext>
            </a:extLst>
          </p:cNvPr>
          <p:cNvSpPr txBox="1"/>
          <p:nvPr/>
        </p:nvSpPr>
        <p:spPr>
          <a:xfrm>
            <a:off x="6543367" y="251343"/>
            <a:ext cx="495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Updated Weights for MCDA:</a:t>
            </a:r>
            <a:br>
              <a:rPr lang="en-IN" b="1" dirty="0"/>
            </a:br>
            <a:endParaRPr lang="en-IN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A92297-D78D-7118-C4C5-283E12C80D22}"/>
              </a:ext>
            </a:extLst>
          </p:cNvPr>
          <p:cNvCxnSpPr>
            <a:cxnSpLocks/>
          </p:cNvCxnSpPr>
          <p:nvPr/>
        </p:nvCxnSpPr>
        <p:spPr>
          <a:xfrm>
            <a:off x="6282813" y="117987"/>
            <a:ext cx="0" cy="6646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83CE0B-8369-A54E-304C-936C476A85DC}"/>
              </a:ext>
            </a:extLst>
          </p:cNvPr>
          <p:cNvSpPr txBox="1"/>
          <p:nvPr/>
        </p:nvSpPr>
        <p:spPr>
          <a:xfrm>
            <a:off x="1317522" y="3824769"/>
            <a:ext cx="4827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 3 Alternatives for Funding with updated MCDA score:</a:t>
            </a:r>
            <a:br>
              <a:rPr lang="en-IN" b="1" dirty="0"/>
            </a:br>
            <a:endParaRPr lang="en-IN" b="1" dirty="0"/>
          </a:p>
          <a:p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7E7A4E-7A1C-53C0-5CB9-B647C4676C7E}"/>
              </a:ext>
            </a:extLst>
          </p:cNvPr>
          <p:cNvCxnSpPr/>
          <p:nvPr/>
        </p:nvCxnSpPr>
        <p:spPr>
          <a:xfrm>
            <a:off x="1130710" y="3746090"/>
            <a:ext cx="10953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F083814-E01A-FC87-BBB1-B2CE3C1F824B}"/>
              </a:ext>
            </a:extLst>
          </p:cNvPr>
          <p:cNvSpPr txBox="1"/>
          <p:nvPr/>
        </p:nvSpPr>
        <p:spPr>
          <a:xfrm>
            <a:off x="6543367" y="3900237"/>
            <a:ext cx="4827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Criteria for Uncertainty: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DALYs (30%)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Population Size (25%).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00D21C-1C4C-D7F2-C42C-8C3154ECF397}"/>
              </a:ext>
            </a:extLst>
          </p:cNvPr>
          <p:cNvSpPr txBox="1"/>
          <p:nvPr/>
        </p:nvSpPr>
        <p:spPr>
          <a:xfrm rot="5400000">
            <a:off x="-2421143" y="3085720"/>
            <a:ext cx="57840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rgbClr val="C00000"/>
                </a:solidFill>
                <a:latin typeface="Montserrat" pitchFamily="2" charset="77"/>
              </a:rPr>
              <a:t>   WHO PERSPECTIVE</a:t>
            </a:r>
            <a:endParaRPr lang="en-US" sz="2800" spc="300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A9C911-34A8-26CC-A685-96FA34973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73079"/>
              </p:ext>
            </p:extLst>
          </p:nvPr>
        </p:nvGraphicFramePr>
        <p:xfrm>
          <a:off x="1363609" y="4480382"/>
          <a:ext cx="4658646" cy="2133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517">
                  <a:extLst>
                    <a:ext uri="{9D8B030D-6E8A-4147-A177-3AD203B41FA5}">
                      <a16:colId xmlns:a16="http://schemas.microsoft.com/office/drawing/2014/main" val="3454070744"/>
                    </a:ext>
                  </a:extLst>
                </a:gridCol>
                <a:gridCol w="3381509">
                  <a:extLst>
                    <a:ext uri="{9D8B030D-6E8A-4147-A177-3AD203B41FA5}">
                      <a16:colId xmlns:a16="http://schemas.microsoft.com/office/drawing/2014/main" val="1869504346"/>
                    </a:ext>
                  </a:extLst>
                </a:gridCol>
                <a:gridCol w="696620">
                  <a:extLst>
                    <a:ext uri="{9D8B030D-6E8A-4147-A177-3AD203B41FA5}">
                      <a16:colId xmlns:a16="http://schemas.microsoft.com/office/drawing/2014/main" val="1145655948"/>
                    </a:ext>
                  </a:extLst>
                </a:gridCol>
              </a:tblGrid>
              <a:tr h="4415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Country - Disease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Score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6327703"/>
                  </a:ext>
                </a:extLst>
              </a:tr>
              <a:tr h="42311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Ethiopia - Maternal and neonatal disorders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4216473"/>
                  </a:ext>
                </a:extLst>
              </a:tr>
              <a:tr h="8278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Kenya - HIV/AIDS and sexually transmitted infections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44.48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18655914"/>
                  </a:ext>
                </a:extLst>
              </a:tr>
              <a:tr h="4415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Zambia - Non-communicable diseases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56643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87F686-796D-0B13-4E51-271FA036B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79916"/>
              </p:ext>
            </p:extLst>
          </p:nvPr>
        </p:nvGraphicFramePr>
        <p:xfrm>
          <a:off x="6938009" y="769072"/>
          <a:ext cx="4693546" cy="2591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0471">
                  <a:extLst>
                    <a:ext uri="{9D8B030D-6E8A-4147-A177-3AD203B41FA5}">
                      <a16:colId xmlns:a16="http://schemas.microsoft.com/office/drawing/2014/main" val="31728904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032911261"/>
                    </a:ext>
                  </a:extLst>
                </a:gridCol>
                <a:gridCol w="1207395">
                  <a:extLst>
                    <a:ext uri="{9D8B030D-6E8A-4147-A177-3AD203B41FA5}">
                      <a16:colId xmlns:a16="http://schemas.microsoft.com/office/drawing/2014/main" val="2587729771"/>
                    </a:ext>
                  </a:extLst>
                </a:gridCol>
              </a:tblGrid>
              <a:tr h="64316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IN" sz="1100" b="1" u="none" strike="noStrike" dirty="0">
                          <a:effectLst/>
                        </a:rPr>
                        <a:t>Criterion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IN" sz="1100" b="1" u="none" strike="noStrike">
                          <a:effectLst/>
                        </a:rPr>
                        <a:t>Original Weight (%)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IN" sz="1100" b="1" u="none" strike="noStrike" dirty="0">
                          <a:effectLst/>
                        </a:rPr>
                        <a:t>Updated Weight (%)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548225058"/>
                  </a:ext>
                </a:extLst>
              </a:tr>
              <a:tr h="288426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 dirty="0">
                          <a:effectLst/>
                        </a:rPr>
                        <a:t>Population Size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 dirty="0">
                          <a:effectLst/>
                        </a:rPr>
                        <a:t>20.00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25.00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271283879"/>
                  </a:ext>
                </a:extLst>
              </a:tr>
              <a:tr h="288426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 dirty="0">
                          <a:effectLst/>
                        </a:rPr>
                        <a:t>DALYs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>
                          <a:effectLst/>
                        </a:rPr>
                        <a:t>25.00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>
                          <a:effectLst/>
                        </a:rPr>
                        <a:t>30.00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658218926"/>
                  </a:ext>
                </a:extLst>
              </a:tr>
              <a:tr h="314064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>
                          <a:effectLst/>
                        </a:rPr>
                        <a:t>Out-of-Pocket Expenditure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>
                          <a:effectLst/>
                        </a:rPr>
                        <a:t>15.00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20.00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879555272"/>
                  </a:ext>
                </a:extLst>
              </a:tr>
              <a:tr h="314064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>
                          <a:effectLst/>
                        </a:rPr>
                        <a:t>External Health Expenditure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>
                          <a:effectLst/>
                        </a:rPr>
                        <a:t>15.00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10.00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902757322"/>
                  </a:ext>
                </a:extLst>
              </a:tr>
              <a:tr h="314064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>
                          <a:effectLst/>
                        </a:rPr>
                        <a:t>Current Health Expenditure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>
                          <a:effectLst/>
                        </a:rPr>
                        <a:t>15.00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10.00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600919102"/>
                  </a:ext>
                </a:extLst>
              </a:tr>
              <a:tr h="429433">
                <a:tc>
                  <a:txBody>
                    <a:bodyPr/>
                    <a:lstStyle/>
                    <a:p>
                      <a:pPr algn="l" fontAlgn="t"/>
                      <a:r>
                        <a:rPr lang="en-IN" sz="1100" u="none" strike="noStrike">
                          <a:effectLst/>
                        </a:rPr>
                        <a:t>Disease-Specific Expenditure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u="none" strike="noStrike">
                          <a:effectLst/>
                        </a:rPr>
                        <a:t>10.00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u="none" strike="noStrike" dirty="0">
                          <a:effectLst/>
                        </a:rPr>
                        <a:t>5.00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2599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8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80399-3387-AC46-8D03-CBDD95393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B2DA0-1364-E93B-40EA-E95B5CF7DC32}"/>
              </a:ext>
            </a:extLst>
          </p:cNvPr>
          <p:cNvSpPr txBox="1"/>
          <p:nvPr/>
        </p:nvSpPr>
        <p:spPr>
          <a:xfrm rot="5400000">
            <a:off x="-2421143" y="2951946"/>
            <a:ext cx="578406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Montserrat" pitchFamily="2" charset="77"/>
              </a:rPr>
              <a:t>UNCERTAINTY  FACTORS  AND PROBABILITIES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557F0-6987-D91A-75E3-E3E8952DB0B2}"/>
              </a:ext>
            </a:extLst>
          </p:cNvPr>
          <p:cNvSpPr txBox="1"/>
          <p:nvPr/>
        </p:nvSpPr>
        <p:spPr>
          <a:xfrm>
            <a:off x="4705622" y="408784"/>
            <a:ext cx="37006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KENYA:</a:t>
            </a:r>
          </a:p>
          <a:p>
            <a:pPr algn="ctr"/>
            <a:endParaRPr lang="en-US" u="sng" dirty="0"/>
          </a:p>
          <a:p>
            <a:r>
              <a:rPr lang="en-US" b="1" dirty="0"/>
              <a:t>Criteria score increase by 5%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60% 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Improved healthcare programs (e.g., HIV/AIDS interventions).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Strong donor support from global health organizations.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Ongoing scaling of healthcare infrastructure.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5"/>
            <a:r>
              <a:rPr lang="en-US" b="1" dirty="0"/>
              <a:t>Criteria score decrease by 5%</a:t>
            </a:r>
            <a:r>
              <a:rPr lang="en-US" dirty="0"/>
              <a:t>: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40%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Political instability and economic challenges.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Risk of disease resurgence (e.g., malaria, cholera).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Limited access to rural healthcare services.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4A785-CED1-39E8-D17D-300A622B0A0B}"/>
              </a:ext>
            </a:extLst>
          </p:cNvPr>
          <p:cNvSpPr txBox="1"/>
          <p:nvPr/>
        </p:nvSpPr>
        <p:spPr>
          <a:xfrm>
            <a:off x="8455018" y="408784"/>
            <a:ext cx="366027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ZAMBIA:</a:t>
            </a:r>
          </a:p>
          <a:p>
            <a:pPr algn="ctr"/>
            <a:endParaRPr lang="en-US" u="sng" dirty="0"/>
          </a:p>
          <a:p>
            <a:r>
              <a:rPr lang="en-US" b="1" dirty="0"/>
              <a:t>Criteria score increase by 5%</a:t>
            </a:r>
            <a:r>
              <a:rPr lang="en-US" dirty="0"/>
              <a:t>: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70% 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Steady progress in combating non-communicable diseases.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Strong government policies promoting universal health coverage.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Stable healthcare systems with fewer disruptions.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5"/>
            <a:r>
              <a:rPr lang="en-US" b="1" dirty="0"/>
              <a:t>Criteria score decrease by 5%</a:t>
            </a:r>
            <a:r>
              <a:rPr lang="en-US" dirty="0"/>
              <a:t>: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30%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Financial dependency on external aid.</a:t>
            </a:r>
          </a:p>
          <a:p>
            <a:pPr marL="285785" indent="-285750">
              <a:buFont typeface="Arial" panose="020B0604020202020204" pitchFamily="34" charset="0"/>
              <a:buChar char="•"/>
            </a:pPr>
            <a:r>
              <a:rPr lang="en-US" dirty="0"/>
              <a:t>Environmental risks (e.g., droughts, floods) disrupting healthcare.</a:t>
            </a:r>
            <a:endParaRPr lang="en-IN" dirty="0"/>
          </a:p>
          <a:p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DE6EBD-B51E-B979-1EC8-E1F04C59A9C6}"/>
              </a:ext>
            </a:extLst>
          </p:cNvPr>
          <p:cNvCxnSpPr/>
          <p:nvPr/>
        </p:nvCxnSpPr>
        <p:spPr>
          <a:xfrm>
            <a:off x="4697340" y="151918"/>
            <a:ext cx="0" cy="6551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98C769-F0E7-CF23-407D-14A82BE43CBE}"/>
              </a:ext>
            </a:extLst>
          </p:cNvPr>
          <p:cNvCxnSpPr/>
          <p:nvPr/>
        </p:nvCxnSpPr>
        <p:spPr>
          <a:xfrm>
            <a:off x="8453979" y="153168"/>
            <a:ext cx="0" cy="6551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E1168D-B7A5-4403-48EA-C0DF750E0618}"/>
              </a:ext>
            </a:extLst>
          </p:cNvPr>
          <p:cNvSpPr txBox="1"/>
          <p:nvPr/>
        </p:nvSpPr>
        <p:spPr>
          <a:xfrm>
            <a:off x="1117828" y="408784"/>
            <a:ext cx="362717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Ethiopia:</a:t>
            </a:r>
            <a:br>
              <a:rPr lang="en-US" b="1" u="sng" dirty="0"/>
            </a:br>
            <a:endParaRPr lang="en-US" b="1" u="sng" dirty="0"/>
          </a:p>
          <a:p>
            <a:r>
              <a:rPr lang="en-US" b="1" dirty="0"/>
              <a:t>Criteria Score Increase by 5%:</a:t>
            </a:r>
            <a:br>
              <a:rPr lang="en-US" b="1" dirty="0"/>
            </a:b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65%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Improvements in maternal &amp; neonatal healthcare.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government &amp; WHO-backed funding.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Focused efforts on reducing maternal mortality.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Criteria Score Decrease by 5%: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Probability = 35%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Rural healthcare infrastructure challenges.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dependency on external aid.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Political &amp; economic instability affecting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7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80399-3387-AC46-8D03-CBDD95393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DA0FB-BA5F-97B2-3C01-6449BF155204}"/>
              </a:ext>
            </a:extLst>
          </p:cNvPr>
          <p:cNvSpPr txBox="1"/>
          <p:nvPr/>
        </p:nvSpPr>
        <p:spPr>
          <a:xfrm rot="5400000">
            <a:off x="-2421143" y="2870277"/>
            <a:ext cx="578406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rgbClr val="C00000"/>
                </a:solidFill>
                <a:latin typeface="Montserrat" panose="00000500000000000000" pitchFamily="2" charset="0"/>
              </a:rPr>
              <a:t>Decision Tree: Funding Choices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88D001-867C-2D4C-1E44-E6CECF333157}"/>
              </a:ext>
            </a:extLst>
          </p:cNvPr>
          <p:cNvCxnSpPr/>
          <p:nvPr/>
        </p:nvCxnSpPr>
        <p:spPr>
          <a:xfrm>
            <a:off x="1227441" y="4595469"/>
            <a:ext cx="107368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1A7EC1-F12C-264A-DB43-D6653FE9AD7A}"/>
              </a:ext>
            </a:extLst>
          </p:cNvPr>
          <p:cNvSpPr txBox="1"/>
          <p:nvPr/>
        </p:nvSpPr>
        <p:spPr>
          <a:xfrm>
            <a:off x="1029105" y="4595469"/>
            <a:ext cx="107065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Key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Ethiopia (Year 1) → Kenya (Year 2) is the strongest path (131.12), making it the most effective funding strategy.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Kenya (Year 1) → Ethiopia (Year 2) has the highest overall value (131.97), but Kenya has a lower starting score, making Ethiopia a better first-year choice.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Zambia’s paths consistently rank lower, making it a less optimal Year 1 choice.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Decision tree validates Ethiopia as the best initial investment for long-term health impact.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C5BFF-09A8-6BBA-F8D4-A42F07D92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920" y="255978"/>
            <a:ext cx="5806943" cy="41685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7EBE10-6D6F-850C-6383-DE4D91C92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81017"/>
              </p:ext>
            </p:extLst>
          </p:nvPr>
        </p:nvGraphicFramePr>
        <p:xfrm>
          <a:off x="7421542" y="255979"/>
          <a:ext cx="4493342" cy="4168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282">
                  <a:extLst>
                    <a:ext uri="{9D8B030D-6E8A-4147-A177-3AD203B41FA5}">
                      <a16:colId xmlns:a16="http://schemas.microsoft.com/office/drawing/2014/main" val="2971811558"/>
                    </a:ext>
                  </a:extLst>
                </a:gridCol>
                <a:gridCol w="1161630">
                  <a:extLst>
                    <a:ext uri="{9D8B030D-6E8A-4147-A177-3AD203B41FA5}">
                      <a16:colId xmlns:a16="http://schemas.microsoft.com/office/drawing/2014/main" val="1669924867"/>
                    </a:ext>
                  </a:extLst>
                </a:gridCol>
                <a:gridCol w="561668">
                  <a:extLst>
                    <a:ext uri="{9D8B030D-6E8A-4147-A177-3AD203B41FA5}">
                      <a16:colId xmlns:a16="http://schemas.microsoft.com/office/drawing/2014/main" val="2083447692"/>
                    </a:ext>
                  </a:extLst>
                </a:gridCol>
                <a:gridCol w="674517">
                  <a:extLst>
                    <a:ext uri="{9D8B030D-6E8A-4147-A177-3AD203B41FA5}">
                      <a16:colId xmlns:a16="http://schemas.microsoft.com/office/drawing/2014/main" val="4025612884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3504514504"/>
                    </a:ext>
                  </a:extLst>
                </a:gridCol>
              </a:tblGrid>
              <a:tr h="5879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Year 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Year 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Year 1 values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Year 2 values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Total synthesised </a:t>
                      </a:r>
                      <a:br>
                        <a:rPr lang="en-IN" sz="1000" b="1" u="none" strike="noStrike" dirty="0">
                          <a:effectLst/>
                        </a:rPr>
                      </a:br>
                      <a:r>
                        <a:rPr lang="en-IN" sz="1000" b="1" u="none" strike="noStrike" dirty="0">
                          <a:effectLst/>
                        </a:rPr>
                        <a:t>value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810351531"/>
                  </a:ext>
                </a:extLst>
              </a:tr>
              <a:tr h="733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Ethiopia - Maternal and neonatal disorders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Kenya - HIV/AIDS and sexually transmitted infections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86.2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44.9248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131.1248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830534158"/>
                  </a:ext>
                </a:extLst>
              </a:tr>
              <a:tr h="46914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Zambia - Non-communicable diseases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21.0324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107.2324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2447327693"/>
                  </a:ext>
                </a:extLst>
              </a:tr>
              <a:tr h="5879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Kenya - HIV/AIDS and sexually transmitted infections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Ethiopia - Maternal and neonatal disorders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44.48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87.493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131.973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4079929918"/>
                  </a:ext>
                </a:extLst>
              </a:tr>
              <a:tr h="46914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Zambia - Non-communicable diseases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21.0324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65.5124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3106430050"/>
                  </a:ext>
                </a:extLst>
              </a:tr>
              <a:tr h="5879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Zambia - Non-communicable diseases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Ethiopia - Maternal and neonatal disorders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20.62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87.493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108.113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2898109178"/>
                  </a:ext>
                </a:extLst>
              </a:tr>
              <a:tr h="7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Kenya - HIV/AIDS and sexually transmitted infections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44.9248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65.5448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66" marR="5466" marT="5466" marB="0" anchor="ctr"/>
                </a:tc>
                <a:extLst>
                  <a:ext uri="{0D108BD9-81ED-4DB2-BD59-A6C34878D82A}">
                    <a16:rowId xmlns:a16="http://schemas.microsoft.com/office/drawing/2014/main" val="2931954097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FD2D4-4AF8-06DF-81F7-FAC2908CA118}"/>
              </a:ext>
            </a:extLst>
          </p:cNvPr>
          <p:cNvCxnSpPr>
            <a:cxnSpLocks/>
          </p:cNvCxnSpPr>
          <p:nvPr/>
        </p:nvCxnSpPr>
        <p:spPr>
          <a:xfrm>
            <a:off x="7197213" y="108155"/>
            <a:ext cx="0" cy="4395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8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1E89716-4F1F-454B-AD56-07FE1DAF4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45AEF-942D-88ED-B3B8-A6D62EC4C115}"/>
              </a:ext>
            </a:extLst>
          </p:cNvPr>
          <p:cNvSpPr txBox="1"/>
          <p:nvPr/>
        </p:nvSpPr>
        <p:spPr>
          <a:xfrm rot="5400000">
            <a:off x="-2683759" y="3132892"/>
            <a:ext cx="630929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rgbClr val="C00000"/>
                </a:solidFill>
                <a:latin typeface="Montserrat" pitchFamily="2" charset="77"/>
              </a:rPr>
              <a:t>Critique and Recommendations</a:t>
            </a:r>
            <a:endParaRPr lang="en-US" sz="2800" spc="3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93FEB-1E48-44AA-ED86-AC2FE7526909}"/>
              </a:ext>
            </a:extLst>
          </p:cNvPr>
          <p:cNvSpPr txBox="1"/>
          <p:nvPr/>
        </p:nvSpPr>
        <p:spPr>
          <a:xfrm>
            <a:off x="1821917" y="3654208"/>
            <a:ext cx="3299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Decision options with cumulative scores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AE226-FD4F-BD38-89B1-C73A08149528}"/>
              </a:ext>
            </a:extLst>
          </p:cNvPr>
          <p:cNvSpPr txBox="1"/>
          <p:nvPr/>
        </p:nvSpPr>
        <p:spPr>
          <a:xfrm>
            <a:off x="1241834" y="3931207"/>
            <a:ext cx="496232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Strengths of Analysis:</a:t>
            </a:r>
            <a:endParaRPr lang="en-US" u="sng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Captures </a:t>
            </a:r>
            <a:r>
              <a:rPr lang="en-US" b="1" dirty="0"/>
              <a:t>uncertainty</a:t>
            </a:r>
            <a:r>
              <a:rPr lang="en-US" dirty="0"/>
              <a:t> for DALYs and Population Size.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Tailored to </a:t>
            </a:r>
            <a:r>
              <a:rPr lang="en-US" b="1" dirty="0"/>
              <a:t>WHO’s priorities </a:t>
            </a:r>
            <a:r>
              <a:rPr lang="en-US" dirty="0"/>
              <a:t>for health impact and equity.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sequential decision-making </a:t>
            </a:r>
            <a:r>
              <a:rPr lang="en-US" dirty="0"/>
              <a:t>over two funding years.</a:t>
            </a:r>
          </a:p>
          <a:p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C126E0-9973-AED3-E149-EB48A286F708}"/>
              </a:ext>
            </a:extLst>
          </p:cNvPr>
          <p:cNvCxnSpPr/>
          <p:nvPr/>
        </p:nvCxnSpPr>
        <p:spPr>
          <a:xfrm flipV="1">
            <a:off x="1091381" y="3886944"/>
            <a:ext cx="10953135" cy="44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3D9AD4-F8F4-5D89-D335-4C6E44DC040C}"/>
              </a:ext>
            </a:extLst>
          </p:cNvPr>
          <p:cNvCxnSpPr/>
          <p:nvPr/>
        </p:nvCxnSpPr>
        <p:spPr>
          <a:xfrm>
            <a:off x="6204155" y="106871"/>
            <a:ext cx="0" cy="6539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A24E67-E03D-09F1-30FB-1F6C9E9FF090}"/>
              </a:ext>
            </a:extLst>
          </p:cNvPr>
          <p:cNvSpPr txBox="1"/>
          <p:nvPr/>
        </p:nvSpPr>
        <p:spPr>
          <a:xfrm>
            <a:off x="6347602" y="3886944"/>
            <a:ext cx="569691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Limitations of Analysis:</a:t>
            </a:r>
            <a:endParaRPr lang="en-US" u="sng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Simplified probabilities </a:t>
            </a:r>
            <a:r>
              <a:rPr lang="en-US" dirty="0"/>
              <a:t>(for change +5%/-5%) may not fully capture real-world complexities.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Limited to </a:t>
            </a:r>
            <a:r>
              <a:rPr lang="en-US" b="1" dirty="0"/>
              <a:t>two criteria </a:t>
            </a:r>
            <a:r>
              <a:rPr lang="en-US" dirty="0"/>
              <a:t>for uncertainty (DALYs, Population Size).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Static decision </a:t>
            </a:r>
            <a:r>
              <a:rPr lang="en-US" dirty="0"/>
              <a:t>paths without mid-year flexibility or adjustments.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55385-B9E8-C7EC-D6F4-56E1C21CD294}"/>
              </a:ext>
            </a:extLst>
          </p:cNvPr>
          <p:cNvSpPr txBox="1"/>
          <p:nvPr/>
        </p:nvSpPr>
        <p:spPr>
          <a:xfrm>
            <a:off x="6347602" y="314632"/>
            <a:ext cx="5500251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Key Recommendations for SAFH:</a:t>
            </a:r>
            <a:endParaRPr lang="en-US" u="sng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Establish </a:t>
            </a:r>
            <a:r>
              <a:rPr lang="en-US" b="1" dirty="0"/>
              <a:t>real-time monitoring </a:t>
            </a:r>
            <a:r>
              <a:rPr lang="en-US" dirty="0"/>
              <a:t>systems for health metrics to update funding priorities dynamically.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Broaden criteria</a:t>
            </a:r>
            <a:r>
              <a:rPr lang="en-US" dirty="0"/>
              <a:t> to include financial sustainability metrics (e.g., Current Health Expenditure).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Collaborate</a:t>
            </a:r>
            <a:r>
              <a:rPr lang="en-US" dirty="0"/>
              <a:t> with </a:t>
            </a:r>
            <a:r>
              <a:rPr lang="en-US" b="1" dirty="0"/>
              <a:t>stakeholders</a:t>
            </a:r>
            <a:r>
              <a:rPr lang="en-US" dirty="0"/>
              <a:t> to validate assumptions and refine decision-making processes.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C26F4-63A0-5C6A-A346-3079C5AD7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45" y="-327252"/>
            <a:ext cx="3436918" cy="393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1E89716-4F1F-454B-AD56-07FE1DAF4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8D877B3-D348-4611-9BDB-C5374591D95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07F7D-BEB6-A94E-BFFB-246BB6698DC4}"/>
              </a:ext>
            </a:extLst>
          </p:cNvPr>
          <p:cNvSpPr txBox="1"/>
          <p:nvPr/>
        </p:nvSpPr>
        <p:spPr>
          <a:xfrm>
            <a:off x="1866900" y="1888324"/>
            <a:ext cx="9753600" cy="4298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318">
              <a:lnSpc>
                <a:spcPct val="110000"/>
              </a:lnSpc>
              <a:spcAft>
                <a:spcPts val="600"/>
              </a:spcAft>
            </a:pPr>
            <a:endParaRPr lang="en-US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FAB07-9BBD-0456-BF34-C215BED3FC1C}"/>
              </a:ext>
            </a:extLst>
          </p:cNvPr>
          <p:cNvSpPr txBox="1"/>
          <p:nvPr/>
        </p:nvSpPr>
        <p:spPr>
          <a:xfrm rot="5400000">
            <a:off x="-2421143" y="2870277"/>
            <a:ext cx="578406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rgbClr val="C00000"/>
                </a:solidFill>
                <a:latin typeface="Montserrat" pitchFamily="2" charset="77"/>
              </a:rPr>
              <a:t>Decision Tree vs Group MCDA Analysis</a:t>
            </a:r>
            <a:endParaRPr lang="en-US" sz="2800" spc="3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46D93-7FC4-F395-ED33-1A017949B964}"/>
              </a:ext>
            </a:extLst>
          </p:cNvPr>
          <p:cNvSpPr txBox="1"/>
          <p:nvPr/>
        </p:nvSpPr>
        <p:spPr>
          <a:xfrm>
            <a:off x="6666272" y="221226"/>
            <a:ext cx="51324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Decision Tree Analysis:</a:t>
            </a:r>
            <a:endParaRPr lang="en-US" u="sng" dirty="0"/>
          </a:p>
          <a:p>
            <a:r>
              <a:rPr lang="en-US" b="1" dirty="0"/>
              <a:t>Focus: </a:t>
            </a:r>
            <a:r>
              <a:rPr lang="en-US" dirty="0"/>
              <a:t>Multi-year, uncertainty-driven decision-making tailored for WHO.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Strengths: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Captures </a:t>
            </a:r>
            <a:r>
              <a:rPr lang="en-US" b="1" dirty="0"/>
              <a:t>uncertainty</a:t>
            </a:r>
            <a:r>
              <a:rPr lang="en-US" dirty="0"/>
              <a:t> in DALYs and Population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Aligns</a:t>
            </a:r>
            <a:r>
              <a:rPr lang="en-US" dirty="0"/>
              <a:t> closely with </a:t>
            </a:r>
            <a:r>
              <a:rPr lang="en-US" b="1" dirty="0"/>
              <a:t>WHO’s</a:t>
            </a:r>
            <a:r>
              <a:rPr lang="en-US" dirty="0"/>
              <a:t> priorities for global health </a:t>
            </a:r>
            <a:r>
              <a:rPr lang="en-US" b="1" dirty="0"/>
              <a:t>impact</a:t>
            </a:r>
            <a:r>
              <a:rPr lang="en-US" dirty="0"/>
              <a:t> and </a:t>
            </a:r>
            <a:r>
              <a:rPr lang="en-US" b="1" dirty="0"/>
              <a:t>equity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dynamic</a:t>
            </a:r>
            <a:r>
              <a:rPr lang="en-US" dirty="0"/>
              <a:t>, </a:t>
            </a:r>
            <a:r>
              <a:rPr lang="en-US" b="1" dirty="0"/>
              <a:t>long-term</a:t>
            </a:r>
            <a:r>
              <a:rPr lang="en-US" dirty="0"/>
              <a:t> funding strategies.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Limitations: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Complex</a:t>
            </a:r>
            <a:r>
              <a:rPr lang="en-US" dirty="0"/>
              <a:t>; requires additional data for probabilities.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Limited</a:t>
            </a:r>
            <a:r>
              <a:rPr lang="en-US" dirty="0"/>
              <a:t> to two criteria for uncertainty evaluation.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DF91-299E-5412-0B7D-59CB81892C85}"/>
              </a:ext>
            </a:extLst>
          </p:cNvPr>
          <p:cNvSpPr txBox="1"/>
          <p:nvPr/>
        </p:nvSpPr>
        <p:spPr>
          <a:xfrm>
            <a:off x="1391265" y="221226"/>
            <a:ext cx="51324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MCDA:</a:t>
            </a:r>
            <a:endParaRPr lang="en-US" u="sng" dirty="0"/>
          </a:p>
          <a:p>
            <a:r>
              <a:rPr lang="en-US" b="1" dirty="0"/>
              <a:t>Focus:</a:t>
            </a:r>
            <a:r>
              <a:rPr lang="en-US" dirty="0"/>
              <a:t> Single-year funding prioritization based on six static criteria.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Strengths: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Comprehensive evaluation of </a:t>
            </a:r>
            <a:r>
              <a:rPr lang="en-US" b="1" dirty="0"/>
              <a:t>multiple</a:t>
            </a:r>
            <a:r>
              <a:rPr lang="en-US" dirty="0"/>
              <a:t> health </a:t>
            </a:r>
            <a:r>
              <a:rPr lang="en-US" b="1" dirty="0"/>
              <a:t>metrics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Simple</a:t>
            </a:r>
            <a:r>
              <a:rPr lang="en-US" dirty="0"/>
              <a:t> and </a:t>
            </a:r>
            <a:r>
              <a:rPr lang="en-US" b="1" dirty="0"/>
              <a:t>efficient</a:t>
            </a:r>
            <a:r>
              <a:rPr lang="en-US" dirty="0"/>
              <a:t> for immediate </a:t>
            </a:r>
            <a:r>
              <a:rPr lang="en-US" b="1" dirty="0"/>
              <a:t>decision-making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Limitations: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Static</a:t>
            </a:r>
            <a:r>
              <a:rPr lang="en-US" dirty="0"/>
              <a:t> approach; no consideration of uncertainty.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Lacks</a:t>
            </a:r>
            <a:r>
              <a:rPr lang="en-US" dirty="0"/>
              <a:t> </a:t>
            </a:r>
            <a:r>
              <a:rPr lang="en-US" b="1" dirty="0"/>
              <a:t>adaptability</a:t>
            </a:r>
            <a:r>
              <a:rPr lang="en-US" dirty="0"/>
              <a:t> to changing health priorities.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DC8BF-F19D-0C1A-EEF3-981B097020A1}"/>
              </a:ext>
            </a:extLst>
          </p:cNvPr>
          <p:cNvSpPr txBox="1"/>
          <p:nvPr/>
        </p:nvSpPr>
        <p:spPr>
          <a:xfrm>
            <a:off x="1162181" y="4579173"/>
            <a:ext cx="105648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u="sng" dirty="0"/>
              <a:t>Key Insights:</a:t>
            </a:r>
            <a:endParaRPr lang="en-US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Ethiopia and Kenya</a:t>
            </a:r>
            <a:r>
              <a:rPr lang="en-US" dirty="0"/>
              <a:t> consistently emerge as top funding choices across both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MCDA is structured for short-term prioritization,</a:t>
            </a:r>
            <a:r>
              <a:rPr lang="en-US" dirty="0"/>
              <a:t> while the </a:t>
            </a:r>
            <a:r>
              <a:rPr lang="en-US" b="1" dirty="0"/>
              <a:t>Decision Tree</a:t>
            </a:r>
            <a:r>
              <a:rPr lang="en-US" dirty="0"/>
              <a:t> allows for adaptive, sequential funding.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Combining both methods </a:t>
            </a:r>
            <a:r>
              <a:rPr lang="en-US" b="1" dirty="0"/>
              <a:t>enhances decision-making</a:t>
            </a:r>
            <a:r>
              <a:rPr lang="en-US" dirty="0"/>
              <a:t>, balancing short-term efficiency with long-term sustainability.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63E561-986B-BAF3-3455-6B82B7FC70A1}"/>
              </a:ext>
            </a:extLst>
          </p:cNvPr>
          <p:cNvCxnSpPr/>
          <p:nvPr/>
        </p:nvCxnSpPr>
        <p:spPr>
          <a:xfrm>
            <a:off x="1007806" y="4745541"/>
            <a:ext cx="110317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F14E88-1695-08E4-0B7C-ADDA631BBF49}"/>
              </a:ext>
            </a:extLst>
          </p:cNvPr>
          <p:cNvCxnSpPr/>
          <p:nvPr/>
        </p:nvCxnSpPr>
        <p:spPr>
          <a:xfrm flipV="1">
            <a:off x="6523703" y="0"/>
            <a:ext cx="0" cy="47455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96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B&amp;D-Powerpoint Template_16x9">
  <a:themeElements>
    <a:clrScheme name="BUSINESS SCHOOL">
      <a:dk1>
        <a:srgbClr val="2B2B2B"/>
      </a:dk1>
      <a:lt1>
        <a:srgbClr val="FCFFFF"/>
      </a:lt1>
      <a:dk2>
        <a:srgbClr val="2B2B2B"/>
      </a:dk2>
      <a:lt2>
        <a:srgbClr val="FFFFFF"/>
      </a:lt2>
      <a:accent1>
        <a:srgbClr val="ED2F24"/>
      </a:accent1>
      <a:accent2>
        <a:srgbClr val="ED2F24"/>
      </a:accent2>
      <a:accent3>
        <a:srgbClr val="ED2F24"/>
      </a:accent3>
      <a:accent4>
        <a:srgbClr val="ED2F24"/>
      </a:accent4>
      <a:accent5>
        <a:srgbClr val="ED2F24"/>
      </a:accent5>
      <a:accent6>
        <a:srgbClr val="ED2F24"/>
      </a:accent6>
      <a:hlink>
        <a:srgbClr val="ED2F24"/>
      </a:hlink>
      <a:folHlink>
        <a:srgbClr val="00000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&amp;D-Powerpoint Template_16x9" id="{D6003E70-2833-4847-828A-A182BBF6C8FF}" vid="{85D7DE89-D8E2-D743-952C-ED1FA0F18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7c5956-0edf-4444-bd4f-48b1c7f54703">
      <Terms xmlns="http://schemas.microsoft.com/office/infopath/2007/PartnerControls"/>
    </lcf76f155ced4ddcb4097134ff3c332f>
    <TaxCatchAll xmlns="faf8587f-6d9b-490e-9c1a-b484aa3966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0DA53543E79B488DD80159CDD32699" ma:contentTypeVersion="15" ma:contentTypeDescription="Create a new document." ma:contentTypeScope="" ma:versionID="24b4b34f1fc697693224ba1e841d7a1b">
  <xsd:schema xmlns:xsd="http://www.w3.org/2001/XMLSchema" xmlns:xs="http://www.w3.org/2001/XMLSchema" xmlns:p="http://schemas.microsoft.com/office/2006/metadata/properties" xmlns:ns2="b47c5956-0edf-4444-bd4f-48b1c7f54703" xmlns:ns3="faf8587f-6d9b-490e-9c1a-b484aa3966e7" targetNamespace="http://schemas.microsoft.com/office/2006/metadata/properties" ma:root="true" ma:fieldsID="d06dd8f6e476af1be7bebd205c1dea32" ns2:_="" ns3:_="">
    <xsd:import namespace="b47c5956-0edf-4444-bd4f-48b1c7f54703"/>
    <xsd:import namespace="faf8587f-6d9b-490e-9c1a-b484aa396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c5956-0edf-4444-bd4f-48b1c7f547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f8587f-6d9b-490e-9c1a-b484aa3966e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468f2fb-18e4-4f81-92d3-1453c2a922a7}" ma:internalName="TaxCatchAll" ma:showField="CatchAllData" ma:web="faf8587f-6d9b-490e-9c1a-b484aa396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1D754D-E9F2-4251-8D38-59CBDDB81DBA}">
  <ds:schemaRefs>
    <ds:schemaRef ds:uri="http://schemas.microsoft.com/office/2006/metadata/properties"/>
    <ds:schemaRef ds:uri="http://schemas.microsoft.com/office/infopath/2007/PartnerControls"/>
    <ds:schemaRef ds:uri="b47c5956-0edf-4444-bd4f-48b1c7f54703"/>
    <ds:schemaRef ds:uri="faf8587f-6d9b-490e-9c1a-b484aa3966e7"/>
  </ds:schemaRefs>
</ds:datastoreItem>
</file>

<file path=customXml/itemProps2.xml><?xml version="1.0" encoding="utf-8"?>
<ds:datastoreItem xmlns:ds="http://schemas.openxmlformats.org/officeDocument/2006/customXml" ds:itemID="{0E1311A6-DDD8-4CCB-B123-5C85F499D7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67DF30-24AC-49AE-9722-F05DFD0791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7c5956-0edf-4444-bd4f-48b1c7f54703"/>
    <ds:schemaRef ds:uri="faf8587f-6d9b-490e-9c1a-b484aa3966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831</Words>
  <Application>Microsoft Office PowerPoint</Application>
  <PresentationFormat>Widescreen</PresentationFormat>
  <Paragraphs>167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Aptos Narrow</vt:lpstr>
      <vt:lpstr>Arial</vt:lpstr>
      <vt:lpstr>Arial Black</vt:lpstr>
      <vt:lpstr>Calibri</vt:lpstr>
      <vt:lpstr>Montserrat</vt:lpstr>
      <vt:lpstr>System Font Regular</vt:lpstr>
      <vt:lpstr>Wingdings</vt:lpstr>
      <vt:lpstr>B&amp;D-Powerpoint Template_16x9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O'Donnell</dc:creator>
  <cp:lastModifiedBy>Arnav Mishra</cp:lastModifiedBy>
  <cp:revision>34</cp:revision>
  <dcterms:created xsi:type="dcterms:W3CDTF">2020-02-05T16:03:23Z</dcterms:created>
  <dcterms:modified xsi:type="dcterms:W3CDTF">2025-01-29T17:14:27Z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0x010100BD0DA53543E79B488DD80159CDD32699</vt:lpwstr>
  </property>
</Properties>
</file>