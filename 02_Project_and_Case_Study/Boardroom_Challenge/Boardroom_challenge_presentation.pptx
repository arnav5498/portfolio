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75" r:id="rId4"/>
    <p:sldId id="276" r:id="rId5"/>
    <p:sldId id="271" r:id="rId6"/>
    <p:sldId id="268" r:id="rId7"/>
    <p:sldId id="277" r:id="rId8"/>
    <p:sldId id="278" r:id="rId9"/>
    <p:sldId id="279" r:id="rId10"/>
    <p:sldId id="280" r:id="rId11"/>
    <p:sldId id="273" r:id="rId12"/>
  </p:sldIdLst>
  <p:sldSz cx="18288000" cy="10287000"/>
  <p:notesSz cx="6858000" cy="9144000"/>
  <p:embeddedFontLst>
    <p:embeddedFont>
      <p:font typeface="Playfair Display" panose="00000500000000000000" pitchFamily="2" charset="0"/>
      <p:regular r:id="rId14"/>
      <p:bold r:id="rId15"/>
      <p:italic r:id="rId16"/>
      <p:boldItalic r:id="rId17"/>
    </p:embeddedFont>
    <p:embeddedFont>
      <p:font typeface="Playfair Display Italics" panose="020B0604020202020204" charset="0"/>
      <p:regular r:id="rId18"/>
    </p:embeddedFont>
    <p:embeddedFont>
      <p:font typeface="Poppins SemiBold" panose="00000700000000000000" pitchFamily="2" charset="0"/>
      <p:bold r:id="rId19"/>
      <p:boldItalic r:id="rId20"/>
    </p:embeddedFont>
    <p:embeddedFont>
      <p:font typeface="Public Sans" panose="020B0604020202020204" charset="0"/>
      <p:regular r:id="rId21"/>
    </p:embeddedFont>
    <p:embeddedFont>
      <p:font typeface="Public San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3F80DD-9EED-4D01-9368-878D6B6A37D4}" v="1" dt="2025-05-08T01:32:59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55556" autoAdjust="0"/>
  </p:normalViewPr>
  <p:slideViewPr>
    <p:cSldViewPr>
      <p:cViewPr varScale="1">
        <p:scale>
          <a:sx n="30" d="100"/>
          <a:sy n="30" d="100"/>
        </p:scale>
        <p:origin x="209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v Mishra" userId="6769b734bb5a098f" providerId="LiveId" clId="{093F80DD-9EED-4D01-9368-878D6B6A37D4}"/>
    <pc:docChg chg="undo custSel modSld">
      <pc:chgData name="Arnav Mishra" userId="6769b734bb5a098f" providerId="LiveId" clId="{093F80DD-9EED-4D01-9368-878D6B6A37D4}" dt="2025-05-08T02:48:05.449" v="99" actId="20577"/>
      <pc:docMkLst>
        <pc:docMk/>
      </pc:docMkLst>
      <pc:sldChg chg="modNotesTx">
        <pc:chgData name="Arnav Mishra" userId="6769b734bb5a098f" providerId="LiveId" clId="{093F80DD-9EED-4D01-9368-878D6B6A37D4}" dt="2025-05-08T02:48:05.449" v="99" actId="20577"/>
        <pc:sldMkLst>
          <pc:docMk/>
          <pc:sldMk cId="0" sldId="256"/>
        </pc:sldMkLst>
      </pc:sldChg>
      <pc:sldChg chg="modNotesTx">
        <pc:chgData name="Arnav Mishra" userId="6769b734bb5a098f" providerId="LiveId" clId="{093F80DD-9EED-4D01-9368-878D6B6A37D4}" dt="2025-05-08T01:33:51.447" v="36" actId="20577"/>
        <pc:sldMkLst>
          <pc:docMk/>
          <pc:sldMk cId="0" sldId="266"/>
        </pc:sldMkLst>
      </pc:sldChg>
      <pc:sldChg chg="modSp mod modNotesTx">
        <pc:chgData name="Arnav Mishra" userId="6769b734bb5a098f" providerId="LiveId" clId="{093F80DD-9EED-4D01-9368-878D6B6A37D4}" dt="2025-05-08T01:47:56.794" v="38" actId="6549"/>
        <pc:sldMkLst>
          <pc:docMk/>
          <pc:sldMk cId="2519064040" sldId="275"/>
        </pc:sldMkLst>
        <pc:spChg chg="mod">
          <ac:chgData name="Arnav Mishra" userId="6769b734bb5a098f" providerId="LiveId" clId="{093F80DD-9EED-4D01-9368-878D6B6A37D4}" dt="2025-05-08T00:31:35.149" v="1"/>
          <ac:spMkLst>
            <pc:docMk/>
            <pc:sldMk cId="2519064040" sldId="275"/>
            <ac:spMk id="5" creationId="{330D3A2D-9B2A-624D-8739-7D30F8DCBA61}"/>
          </ac:spMkLst>
        </pc:spChg>
      </pc:sldChg>
      <pc:sldChg chg="modSp mod">
        <pc:chgData name="Arnav Mishra" userId="6769b734bb5a098f" providerId="LiveId" clId="{093F80DD-9EED-4D01-9368-878D6B6A37D4}" dt="2025-05-08T00:32:09.387" v="2"/>
        <pc:sldMkLst>
          <pc:docMk/>
          <pc:sldMk cId="905828102" sldId="278"/>
        </pc:sldMkLst>
        <pc:spChg chg="mod">
          <ac:chgData name="Arnav Mishra" userId="6769b734bb5a098f" providerId="LiveId" clId="{093F80DD-9EED-4D01-9368-878D6B6A37D4}" dt="2025-05-08T00:32:09.387" v="2"/>
          <ac:spMkLst>
            <pc:docMk/>
            <pc:sldMk cId="905828102" sldId="278"/>
            <ac:spMk id="5" creationId="{93710B51-48D5-A2D9-B689-B10C400FC4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660AE-1D49-4A4B-917C-AE0993A5811D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9CA63-7AE8-4419-861B-363278DAE4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656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Good morning everyone. I’m here to present a strategic investment proposal for  “Fair Growth at TransUnion India.”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This is a case for embedding Decent and Fair Work deeper into our organization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This presentation draws on responsible management and also includes real-world evidence from </a:t>
            </a:r>
            <a:r>
              <a:rPr lang="en-US" dirty="0" err="1"/>
              <a:t>organisations</a:t>
            </a:r>
            <a:r>
              <a:rPr lang="en-US" dirty="0"/>
              <a:t> like Adobe, Amdocs, and Wipro.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At its heart, this is a proposal about </a:t>
            </a:r>
            <a:r>
              <a:rPr lang="en-US" b="1" dirty="0" err="1"/>
              <a:t>harmonising</a:t>
            </a:r>
            <a:r>
              <a:rPr lang="en-US" dirty="0"/>
              <a:t> employee wellbeing, business performance, and </a:t>
            </a:r>
            <a:r>
              <a:rPr lang="en-US"/>
              <a:t>responsible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CA63-7AE8-4419-861B-363278DAE41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322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you all know, the BSE team has played a pivotal role in TransUnion India’s transformation — modernising our legacy infrastructure into a scalable, serverless architecture that supports the credit reporting ecosystem across the country.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has been a technically complex, cross-functional effort involving engineering, QA, product, UDA and business teams. Our working model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sz="1800" dirty="0"/>
              <a:t>uilt on a strong foundation of agile collaboration- 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already reflects elements of shared leadership, collaborative planning, </a:t>
            </a:r>
            <a:r>
              <a:rPr lang="en-US" sz="2800" dirty="0"/>
              <a:t>employee voice </a:t>
            </a:r>
            <a:r>
              <a:rPr lang="en-IN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through agile ceremonies and retrospectives.</a:t>
            </a:r>
            <a:r>
              <a:rPr lang="en-US" sz="2800" dirty="0"/>
              <a:t>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We’ve also demonstrated adaptability — especially during the COVID period, when flexibility was key. 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However, if we’re honest, we’re still facing persistent structural gaps in how we develop and support our people: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Career progression, particularly for high-performing junior and mid-level roles, is too slow and ambiguous.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Our performance management approach — anchored in rigid, predefined KPIs — limits engagement, autonomy, and growth.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our return-to-office transition, while necessary, has lacked structured support for team members — creating friction in a hybrid reality.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These gaps risk undermining two of the core principles of Fair Work: 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Opportunity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Respect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And that’s precisely what my proposal today is designed to address — using practices that are strategic, evidence-based, and scalable across BSE and beyond.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CA63-7AE8-4419-861B-363278DAE41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653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core issue we face is this: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we’re not enabling growth fast enough from within.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the BSE team, it often takes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three or more years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top performers to reach the next level — not due to capability, but due to unclear pathways and limited internal movement.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top of that, our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metrics are rigid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For most roles, KPIs are largely top-down, with little space for team members to shape their own development goals.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post-COVID, while we’ve resumed in-office collaboration, the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return-to-office process was abrupt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There was minimal manager guidance, and employees felt the transition lacked respect and support.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When we step back — what we see is: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Missed internal talent potential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Erosion in engagement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over time, and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real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risk to retention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especially as younger talent seeks faster progression and flexible, human-centred leadership.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These challenges sit directly in the space of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Opportunity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Respect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two of the five pillars of the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Fair Work Framework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And under the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JD-R model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when demands rise and resources stagnate,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burnout and attrition follow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question we must ask ourselves is not 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we address this — but 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fast and how seriously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CA63-7AE8-4419-861B-363278DAE41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588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I’m proposing a full investment in three interlinked practices — designed to embed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Decent and Fair Work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within the BSE team, while directly supporting performance, retention, and leadership capability.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First, we launch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structured internal career pathways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These will include skill-based growth maps for every core role, and transparent internal mobility options. This empowers employees to see a future with us — and builds a stronger internal talent pipeline.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Second, we redesign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feedback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around strengths and autonomy. This means replacing rigid, one-directional reviews with strengths-based conversations and employee-led goal setting — using principles from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feedforward coaching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job crafting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Third, we deliver a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manager development programme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focused on hybrid leadership and respectful engagement. Managers will be trained to coach, give forward-looking feedback, and maintain psychological safety in hybrid settings.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These actions are not a cultural leap — they build directly on our existing agile, voice-rich environment. We’re not starting from zero — we’re evolving from strength.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to ensure buy-in, this will be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co-designed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with both employees and line managers. Not imposed — built together.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CA63-7AE8-4419-861B-363278DAE41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086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ensure this is both actionable and impactful, we’ve designed a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phased, 9-month implementation plan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organised under two workstreams.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Track A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focuses on Career Enablement.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Months 1 and 2, we’ll co-create skill maps and progression blueprints across the BSE team.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Months 3 to 4 will see the rollout of structured career conversations — starting with key teams.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 Month 5, we’ll launch employee-led goal-setting frameworks, aligned to business outcomes.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Months 7 through 9 are focused on collecting feedback, refining the system, and preparing for cross-functional scale-up.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Track B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focuses on Respect-Based Leadership.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First, we’ll design and deliver manager training on hybrid communication, feedback, and trust-building.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Then we embed this into regular 1:1s, check-ins, and team retrospectives by Month 4.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Month 6 onward, we’ll run pulse surveys and mini “learning labs” to keep iterating and strengthening leadership impact.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plan is built for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engagement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not compliance.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We’re not rolling out complexity. We’re embedding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clarity, autonomy, and leadership maturity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one step at a time.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CA63-7AE8-4419-861B-363278DAE41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306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investment isn’t just operationally sound — it is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strategically aligned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with the principles of Decent and Fair Work, global ESG expectations, and our values as a responsible business.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the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Fair Work perspective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we’re addressing: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Opportunity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by giving every BSE team member a transparent pathway to progress internally.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Respect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by training managers in human-centred feedback and hybrid leadership.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Fulfilment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by enabling employees to shape their goals, build on their strengths, and see a future here.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Laasch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(2024) reminds us,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responsible management is about voluntary accountability to all stakeholders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That includes our people. This proposal puts that into practice.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from a global standpoint, we’re directly contributing to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Sustainable Development Goal 8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promoting inclusive growth and decent work for all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an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ESG perspective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this squarely sits in the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‘S’ of Human Capital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strengthening our talent, engagement, wellbeing, and retention.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short: this is about doing the right thing, and doing it in a way that’s measurable, material, and mission-aligned.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CA63-7AE8-4419-861B-363278DAE41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87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Let me briefly show you the evidence that underpins this proposal.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First, on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internal mobility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LinkedIn’s Global Talent Report (2022) shows that employees stay nearly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twice as long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organisations that actively support internal progression.</a:t>
            </a:r>
            <a:b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Amdocs, a global software firm with major operations in India, saw internal hiring rise to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56% in India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and cited this as a driver of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engagement, retention, and cost savings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Second, on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feedback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Adobe replaced annual appraisals with strengths-based check-ins and saw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voluntary turnover drop by 30%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b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 from Barends et al. (2022) shows that in over a third of cases, traditional feedback actually reduces performance — while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feedforward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employee-led goals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improve outcomes.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Third, on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hybrid leadership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Bloom et al.’s (2024) large-scale study in India showed that hybrid support structures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reduced attrition by 33%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But without manager support, hybrid friction increases.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Finally, the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JD-R model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by Bakker and Demerouti explains why this all matters. When employees have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resources like autonomy, voice, and developmental feedback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engagement and wellbeing rise. When demands grow but resources don’t — burnout, detachment, and turnover follow.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These aren’t isolated claims — they’re converging insights from practice, data, and theory. And they make a clear case: investing in Fair Work is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strategic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not optional.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CA63-7AE8-4419-861B-363278DAE41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035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Let me be direct about the returns we can expect from this investment — both for the business and for our people.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a business standpoint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Companies like Adobe saw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voluntary attrition drop by 30%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after adopting employee-led, strengths-based feedback.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Engagement scores, productivity, and innovation tend to rise when employees are involved in shaping their goals and development plans — which also helps us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retain critical system knowledge in-house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Amdocs saw reduced talent loss and internal fill rates jump to 56% in India, leading to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lower external recruitment spend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Manager capability will improve — helping line leaders support hybrid teams and create a culture of coaching.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a social and ESG perspective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strengthens our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Employee Value Proposition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especially for early-career and high-potential staff.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demonstrates a genuine commitment to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Decent Work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aligns us with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SDG 8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ESG expectations, particularly around the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‘S’ factor of Human Capital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also supports diversity and inclusion — research shows that clear career pathways benefit underrepresented groups, helping build equitable progress.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short: this investment helps us keep our best people, develop our future leaders, and position TransUnion as a responsible, attractive place to grow a career.</a:t>
            </a:r>
            <a:b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It’s a smart move — ethically and economically.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CA63-7AE8-4419-861B-363278DAE41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06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investment is without risks — and this one is no exception.</a:t>
            </a:r>
            <a:b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But we’ve anticipated the most likely challenges, and we have clear mitigation strategies in place.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First,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manager resistance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It’s possible some leaders may view new feedback structures or coaching models as disruptive. That’s why we’ll engage them early — involving them in designing the tools, and using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peer-led workshops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build trust and confidence.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Second,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employee adoption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Some may be sceptical or slow to engage. We’ll counter that by identifying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internal champions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running early success stories, and making engagement visible and rewarding.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Third, there’s the issue of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time and capacity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Teams are already stretched. So this will be implemented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phases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using agile sprints where possible, and plugged into existing PI planning and feedback rituals.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Finally, </a:t>
            </a: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ROI uncertainty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To de-risk this, we’ll measure tangible outcomes — like internal fill rates, promotion velocity, retention data, and feedback quality.</a:t>
            </a:r>
          </a:p>
          <a:p>
            <a:pPr marL="457200">
              <a:lnSpc>
                <a:spcPct val="150000"/>
              </a:lnSpc>
              <a:spcAft>
                <a:spcPts val="6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is not a soft investment — it’s a measured, trackable improvement initiative, and we’re prepared to manage the execution with rigour.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CA63-7AE8-4419-861B-363278DAE41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516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In closing, I’m asking for your support to move forward with a full-scale investment in fair growth within the BSE team.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Specifically, I recommend we invest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Structured internal career development</a:t>
            </a:r>
            <a:r>
              <a:rPr lang="en-US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 redesigned feedback experience built on employee strengths</a:t>
            </a:r>
            <a:r>
              <a:rPr lang="en-US" dirty="0"/>
              <a:t>, 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Respect-based leadership training for hybrid-ready teams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These practices are not theoretical — they are grounded in data, aligned with our values, and designed to deliver measurable impact.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But I also want to offer a critical reflection.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This is not a silver bullet. It won’t eliminate every challenge overnight.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It will take time. It will require mindset shifts. It will ask us to coach, to listen, and to co-create a better working environment.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But if we believe in our people, if we believe in the future of agile, inclusive, resilient work — then this is the next right step.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Because </a:t>
            </a:r>
            <a:r>
              <a:rPr lang="en-US" b="1" dirty="0"/>
              <a:t>Fair Work is not just a value — it’s a strategy.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A strategy to keep our best people. To build great teams. And to lead responsibly.</a:t>
            </a:r>
          </a:p>
          <a:p>
            <a:endParaRPr lang="en-US" dirty="0"/>
          </a:p>
          <a:p>
            <a:r>
              <a:rPr lang="en-US" dirty="0"/>
              <a:t>Thank you — I welcome your questions.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9CA63-7AE8-4419-861B-363278DAE41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547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525739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850974" y="3075042"/>
            <a:ext cx="16408332" cy="175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50"/>
              </a:lnSpc>
            </a:pPr>
            <a:r>
              <a:rPr lang="en-US" sz="9800" spc="83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Fair Growth at TransUnion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0974" y="9137650"/>
            <a:ext cx="7862435" cy="41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400" dirty="0"/>
              <a:t>Boardroom Challenge | 8 May 2025</a:t>
            </a:r>
            <a:endParaRPr lang="en-US" sz="23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028" name="Picture 4" descr="TransUnion | Partners | Alloy">
            <a:extLst>
              <a:ext uri="{FF2B5EF4-FFF2-40B4-BE49-F238E27FC236}">
                <a16:creationId xmlns:a16="http://schemas.microsoft.com/office/drawing/2014/main" id="{501F693D-92CE-3475-430A-8930B6902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5200" y="8900457"/>
            <a:ext cx="2501826" cy="652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TRANSUNION INDIA | BSE TEAM CONTEXT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00600" y="4762500"/>
            <a:ext cx="5146395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Strong on flexibility and voice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0599" y="3238500"/>
            <a:ext cx="5146395" cy="47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Agile and collaborative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00599" y="6286500"/>
            <a:ext cx="9601201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Gaps in growth, feedback, and hybrid respect</a:t>
            </a:r>
          </a:p>
        </p:txBody>
      </p:sp>
      <p:pic>
        <p:nvPicPr>
          <p:cNvPr id="25" name="Graphic 24" descr="Badge Follow outline">
            <a:extLst>
              <a:ext uri="{FF2B5EF4-FFF2-40B4-BE49-F238E27FC236}">
                <a16:creationId xmlns:a16="http://schemas.microsoft.com/office/drawing/2014/main" id="{A952B184-ED74-F8FB-6EFE-A06FBF814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0" y="3018393"/>
            <a:ext cx="914400" cy="914400"/>
          </a:xfrm>
          <a:prstGeom prst="rect">
            <a:avLst/>
          </a:prstGeom>
        </p:spPr>
      </p:pic>
      <p:pic>
        <p:nvPicPr>
          <p:cNvPr id="27" name="Graphic 26" descr="Checkmark outline">
            <a:extLst>
              <a:ext uri="{FF2B5EF4-FFF2-40B4-BE49-F238E27FC236}">
                <a16:creationId xmlns:a16="http://schemas.microsoft.com/office/drawing/2014/main" id="{90EF53AD-8A8C-5786-CABF-B633E5C9C8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5199" y="4686300"/>
            <a:ext cx="762000" cy="762000"/>
          </a:xfrm>
          <a:prstGeom prst="rect">
            <a:avLst/>
          </a:prstGeom>
        </p:spPr>
      </p:pic>
      <p:pic>
        <p:nvPicPr>
          <p:cNvPr id="29" name="Graphic 28" descr="Close outline">
            <a:extLst>
              <a:ext uri="{FF2B5EF4-FFF2-40B4-BE49-F238E27FC236}">
                <a16:creationId xmlns:a16="http://schemas.microsoft.com/office/drawing/2014/main" id="{0336C92E-30A3-9809-DB68-B96EC3F928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43708" y="6172821"/>
            <a:ext cx="684983" cy="684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1201E-7FD3-F8CA-4DCF-AE425AB6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82887767-0DBE-4E2B-8E16-153137133A5B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30D3A2D-9B2A-624D-8739-7D30F8DCBA61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WHY WE NEED TO ACT NOW?</a:t>
            </a: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5CC1D7-D073-349A-A615-12DFE5BA7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2781300"/>
            <a:ext cx="13944600" cy="517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64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6ACF5-C75B-F6AA-6C22-60321540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AA143BE9-D8B0-7E42-4EE8-5DABE1EEA414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CF58B58-6704-8E88-2005-824AD761E82B}"/>
              </a:ext>
            </a:extLst>
          </p:cNvPr>
          <p:cNvSpPr txBox="1"/>
          <p:nvPr/>
        </p:nvSpPr>
        <p:spPr>
          <a:xfrm>
            <a:off x="1006870" y="942975"/>
            <a:ext cx="16747729" cy="609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OUR INVESTMENT: FAIR GROWTH FOR BSE TEAM</a:t>
            </a:r>
          </a:p>
        </p:txBody>
      </p:sp>
      <p:pic>
        <p:nvPicPr>
          <p:cNvPr id="17" name="Picture 16" descr="A diagram of a diagram&#10;&#10;AI-generated content may be incorrect.">
            <a:extLst>
              <a:ext uri="{FF2B5EF4-FFF2-40B4-BE49-F238E27FC236}">
                <a16:creationId xmlns:a16="http://schemas.microsoft.com/office/drawing/2014/main" id="{045ADEC7-730C-19D5-1CD7-C94459307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757297"/>
            <a:ext cx="11526454" cy="6571096"/>
          </a:xfrm>
          <a:prstGeom prst="rect">
            <a:avLst/>
          </a:prstGeom>
        </p:spPr>
      </p:pic>
      <p:sp>
        <p:nvSpPr>
          <p:cNvPr id="20" name="TextBox 2">
            <a:extLst>
              <a:ext uri="{FF2B5EF4-FFF2-40B4-BE49-F238E27FC236}">
                <a16:creationId xmlns:a16="http://schemas.microsoft.com/office/drawing/2014/main" id="{31F2826E-C7CC-B8D9-7B2D-EC193E9F23BA}"/>
              </a:ext>
            </a:extLst>
          </p:cNvPr>
          <p:cNvSpPr txBox="1"/>
          <p:nvPr/>
        </p:nvSpPr>
        <p:spPr>
          <a:xfrm>
            <a:off x="1028694" y="8324929"/>
            <a:ext cx="16230593" cy="887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4400" spc="3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Built on existing agile culture | Co-designed with employees</a:t>
            </a:r>
          </a:p>
        </p:txBody>
      </p:sp>
      <p:sp>
        <p:nvSpPr>
          <p:cNvPr id="21" name="AutoShape 3">
            <a:extLst>
              <a:ext uri="{FF2B5EF4-FFF2-40B4-BE49-F238E27FC236}">
                <a16:creationId xmlns:a16="http://schemas.microsoft.com/office/drawing/2014/main" id="{C1C8310E-4BD7-81DF-4E94-AE14D6C712D5}"/>
              </a:ext>
            </a:extLst>
          </p:cNvPr>
          <p:cNvSpPr/>
          <p:nvPr/>
        </p:nvSpPr>
        <p:spPr>
          <a:xfrm flipV="1">
            <a:off x="990606" y="830539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4583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IMPLEMENTATION PLAN – NEXT 9 MONTHS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88657" y="3283367"/>
            <a:ext cx="2498544" cy="869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i="1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Goal-setting co-design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29135" y="2589045"/>
            <a:ext cx="2785647" cy="40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Month 7-9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9152" y="3238500"/>
            <a:ext cx="3560448" cy="870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i="1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Skill maps &amp; progression routes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81781" y="2604240"/>
            <a:ext cx="2785647" cy="40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Month 3-4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55924" y="3234245"/>
            <a:ext cx="2785647" cy="869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3480"/>
              </a:lnSpc>
              <a:defRPr sz="2900" i="1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</a:defRPr>
            </a:lvl1pPr>
          </a:lstStyle>
          <a:p>
            <a:r>
              <a:rPr lang="en-US" dirty="0">
                <a:sym typeface="Playfair Display Italics"/>
              </a:rPr>
              <a:t>Launch career conversations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57994" y="2589045"/>
            <a:ext cx="2785647" cy="40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Month 5-6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89336" y="3234245"/>
            <a:ext cx="2785647" cy="869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i="1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Full rollout &amp; feedback loop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042923" y="3009900"/>
            <a:ext cx="138677" cy="13867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6151" y="3052683"/>
            <a:ext cx="138677" cy="13867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88656" y="3023623"/>
            <a:ext cx="138677" cy="13867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059797" y="2983343"/>
            <a:ext cx="138677" cy="138677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36" name="AutoShape 36"/>
          <p:cNvSpPr/>
          <p:nvPr/>
        </p:nvSpPr>
        <p:spPr>
          <a:xfrm flipV="1">
            <a:off x="896467" y="3048054"/>
            <a:ext cx="13276733" cy="38510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2BFED961-10A7-2F25-1907-FEBED1B971D5}"/>
              </a:ext>
            </a:extLst>
          </p:cNvPr>
          <p:cNvSpPr txBox="1"/>
          <p:nvPr/>
        </p:nvSpPr>
        <p:spPr>
          <a:xfrm>
            <a:off x="846151" y="2604240"/>
            <a:ext cx="2785647" cy="40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Month 1–2</a:t>
            </a:r>
          </a:p>
        </p:txBody>
      </p:sp>
      <p:sp>
        <p:nvSpPr>
          <p:cNvPr id="38" name="AutoShape 3">
            <a:extLst>
              <a:ext uri="{FF2B5EF4-FFF2-40B4-BE49-F238E27FC236}">
                <a16:creationId xmlns:a16="http://schemas.microsoft.com/office/drawing/2014/main" id="{17BACC97-A264-132D-B356-9ADB9507D758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2">
            <a:extLst>
              <a:ext uri="{FF2B5EF4-FFF2-40B4-BE49-F238E27FC236}">
                <a16:creationId xmlns:a16="http://schemas.microsoft.com/office/drawing/2014/main" id="{AFCA82D4-9650-E5C1-22A1-B499F0BEC8EE}"/>
              </a:ext>
            </a:extLst>
          </p:cNvPr>
          <p:cNvSpPr txBox="1"/>
          <p:nvPr/>
        </p:nvSpPr>
        <p:spPr>
          <a:xfrm>
            <a:off x="644390" y="4350822"/>
            <a:ext cx="16230593" cy="840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2400" b="1" spc="300" dirty="0">
                <a:solidFill>
                  <a:srgbClr val="2B2C30"/>
                </a:solidFill>
                <a:latin typeface="Poppins SemiBold" panose="00000700000000000000" pitchFamily="2" charset="0"/>
                <a:ea typeface="Playfair Display"/>
                <a:cs typeface="Poppins SemiBold" panose="00000700000000000000" pitchFamily="2" charset="0"/>
                <a:sym typeface="Playfair Display"/>
              </a:rPr>
              <a:t>TRACK A: CAREER ENABLEMENT</a:t>
            </a:r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56627E50-8422-5B15-128C-22877EB9F258}"/>
              </a:ext>
            </a:extLst>
          </p:cNvPr>
          <p:cNvSpPr/>
          <p:nvPr/>
        </p:nvSpPr>
        <p:spPr>
          <a:xfrm>
            <a:off x="0" y="5980196"/>
            <a:ext cx="18211800" cy="39192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CEF21D44-237A-D588-D3B1-96021CF54DEF}"/>
              </a:ext>
            </a:extLst>
          </p:cNvPr>
          <p:cNvSpPr txBox="1"/>
          <p:nvPr/>
        </p:nvSpPr>
        <p:spPr>
          <a:xfrm>
            <a:off x="14129134" y="7684270"/>
            <a:ext cx="2785647" cy="869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i="1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Pulse check &amp; learning review</a:t>
            </a:r>
          </a:p>
        </p:txBody>
      </p:sp>
      <p:sp>
        <p:nvSpPr>
          <p:cNvPr id="43" name="TextBox 10">
            <a:extLst>
              <a:ext uri="{FF2B5EF4-FFF2-40B4-BE49-F238E27FC236}">
                <a16:creationId xmlns:a16="http://schemas.microsoft.com/office/drawing/2014/main" id="{D8B7F225-B573-D2C7-84B1-46D27B4F4FDC}"/>
              </a:ext>
            </a:extLst>
          </p:cNvPr>
          <p:cNvSpPr txBox="1"/>
          <p:nvPr/>
        </p:nvSpPr>
        <p:spPr>
          <a:xfrm>
            <a:off x="900562" y="7680977"/>
            <a:ext cx="3513266" cy="870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i="1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Design &amp; deliver manager training</a:t>
            </a:r>
          </a:p>
        </p:txBody>
      </p:sp>
      <p:sp>
        <p:nvSpPr>
          <p:cNvPr id="44" name="TextBox 11">
            <a:extLst>
              <a:ext uri="{FF2B5EF4-FFF2-40B4-BE49-F238E27FC236}">
                <a16:creationId xmlns:a16="http://schemas.microsoft.com/office/drawing/2014/main" id="{3FF451C1-5F8B-879A-E501-4916250184DA}"/>
              </a:ext>
            </a:extLst>
          </p:cNvPr>
          <p:cNvSpPr txBox="1"/>
          <p:nvPr/>
        </p:nvSpPr>
        <p:spPr>
          <a:xfrm>
            <a:off x="7908869" y="7019117"/>
            <a:ext cx="2785647" cy="40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Month 3-5</a:t>
            </a: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915D141C-E636-1B59-9CD9-A9DF55C4C2E4}"/>
              </a:ext>
            </a:extLst>
          </p:cNvPr>
          <p:cNvSpPr txBox="1"/>
          <p:nvPr/>
        </p:nvSpPr>
        <p:spPr>
          <a:xfrm>
            <a:off x="7915796" y="7676210"/>
            <a:ext cx="3971406" cy="870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i="1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Feedback framework in practice</a:t>
            </a:r>
          </a:p>
        </p:txBody>
      </p:sp>
      <p:sp>
        <p:nvSpPr>
          <p:cNvPr id="46" name="TextBox 14">
            <a:extLst>
              <a:ext uri="{FF2B5EF4-FFF2-40B4-BE49-F238E27FC236}">
                <a16:creationId xmlns:a16="http://schemas.microsoft.com/office/drawing/2014/main" id="{47A7EEA1-F707-BE0C-6C2F-76F8F7D9311B}"/>
              </a:ext>
            </a:extLst>
          </p:cNvPr>
          <p:cNvSpPr txBox="1"/>
          <p:nvPr/>
        </p:nvSpPr>
        <p:spPr>
          <a:xfrm>
            <a:off x="14134990" y="7019117"/>
            <a:ext cx="2785647" cy="40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Month 6-9</a:t>
            </a:r>
          </a:p>
        </p:txBody>
      </p:sp>
      <p:grpSp>
        <p:nvGrpSpPr>
          <p:cNvPr id="48" name="Group 21">
            <a:extLst>
              <a:ext uri="{FF2B5EF4-FFF2-40B4-BE49-F238E27FC236}">
                <a16:creationId xmlns:a16="http://schemas.microsoft.com/office/drawing/2014/main" id="{0497A9D4-D5AD-0164-A8D9-BCE9DA61C444}"/>
              </a:ext>
            </a:extLst>
          </p:cNvPr>
          <p:cNvGrpSpPr/>
          <p:nvPr/>
        </p:nvGrpSpPr>
        <p:grpSpPr>
          <a:xfrm>
            <a:off x="7827716" y="7450509"/>
            <a:ext cx="138677" cy="138677"/>
            <a:chOff x="0" y="0"/>
            <a:chExt cx="812800" cy="812800"/>
          </a:xfrm>
        </p:grpSpPr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29E58F2B-5082-8501-8FE4-06BDFB8A51F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23">
              <a:extLst>
                <a:ext uri="{FF2B5EF4-FFF2-40B4-BE49-F238E27FC236}">
                  <a16:creationId xmlns:a16="http://schemas.microsoft.com/office/drawing/2014/main" id="{1F19792F-3236-A72D-3576-9F220DF54EA8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51" name="Group 24">
            <a:extLst>
              <a:ext uri="{FF2B5EF4-FFF2-40B4-BE49-F238E27FC236}">
                <a16:creationId xmlns:a16="http://schemas.microsoft.com/office/drawing/2014/main" id="{2BD502A6-E51C-D11E-FD4E-C173AE504433}"/>
              </a:ext>
            </a:extLst>
          </p:cNvPr>
          <p:cNvGrpSpPr/>
          <p:nvPr/>
        </p:nvGrpSpPr>
        <p:grpSpPr>
          <a:xfrm>
            <a:off x="887561" y="7502445"/>
            <a:ext cx="138677" cy="138677"/>
            <a:chOff x="0" y="0"/>
            <a:chExt cx="812800" cy="812800"/>
          </a:xfrm>
        </p:grpSpPr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45C6C37A-7E19-DCC3-A61F-8959201600D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26">
              <a:extLst>
                <a:ext uri="{FF2B5EF4-FFF2-40B4-BE49-F238E27FC236}">
                  <a16:creationId xmlns:a16="http://schemas.microsoft.com/office/drawing/2014/main" id="{9B88FD2C-13BA-A541-AA85-6EA0F165DBD9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57" name="Group 33">
            <a:extLst>
              <a:ext uri="{FF2B5EF4-FFF2-40B4-BE49-F238E27FC236}">
                <a16:creationId xmlns:a16="http://schemas.microsoft.com/office/drawing/2014/main" id="{C8191855-30FF-3C47-0BA5-EB8B6F11913C}"/>
              </a:ext>
            </a:extLst>
          </p:cNvPr>
          <p:cNvGrpSpPr/>
          <p:nvPr/>
        </p:nvGrpSpPr>
        <p:grpSpPr>
          <a:xfrm>
            <a:off x="14101207" y="7425820"/>
            <a:ext cx="138677" cy="138677"/>
            <a:chOff x="0" y="0"/>
            <a:chExt cx="812800" cy="812800"/>
          </a:xfrm>
        </p:grpSpPr>
        <p:sp>
          <p:nvSpPr>
            <p:cNvPr id="58" name="Freeform 34">
              <a:extLst>
                <a:ext uri="{FF2B5EF4-FFF2-40B4-BE49-F238E27FC236}">
                  <a16:creationId xmlns:a16="http://schemas.microsoft.com/office/drawing/2014/main" id="{3AC18F95-EC25-FE9B-7E88-7A1DF434F01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TextBox 35">
              <a:extLst>
                <a:ext uri="{FF2B5EF4-FFF2-40B4-BE49-F238E27FC236}">
                  <a16:creationId xmlns:a16="http://schemas.microsoft.com/office/drawing/2014/main" id="{27E89812-790E-AA82-9F20-2D02C3C44310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60" name="AutoShape 36">
            <a:extLst>
              <a:ext uri="{FF2B5EF4-FFF2-40B4-BE49-F238E27FC236}">
                <a16:creationId xmlns:a16="http://schemas.microsoft.com/office/drawing/2014/main" id="{FE323080-ABAE-A2DD-D469-1A7D09DA9AB9}"/>
              </a:ext>
            </a:extLst>
          </p:cNvPr>
          <p:cNvSpPr/>
          <p:nvPr/>
        </p:nvSpPr>
        <p:spPr>
          <a:xfrm flipV="1">
            <a:off x="937877" y="7488722"/>
            <a:ext cx="13276733" cy="38510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1" name="TextBox 11">
            <a:extLst>
              <a:ext uri="{FF2B5EF4-FFF2-40B4-BE49-F238E27FC236}">
                <a16:creationId xmlns:a16="http://schemas.microsoft.com/office/drawing/2014/main" id="{EA1F7B1F-C936-F53F-9EF5-F880F5113AE9}"/>
              </a:ext>
            </a:extLst>
          </p:cNvPr>
          <p:cNvSpPr txBox="1"/>
          <p:nvPr/>
        </p:nvSpPr>
        <p:spPr>
          <a:xfrm>
            <a:off x="859152" y="7028085"/>
            <a:ext cx="2785647" cy="40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Month 1–2</a:t>
            </a:r>
          </a:p>
        </p:txBody>
      </p:sp>
      <p:sp>
        <p:nvSpPr>
          <p:cNvPr id="62" name="TextBox 2">
            <a:extLst>
              <a:ext uri="{FF2B5EF4-FFF2-40B4-BE49-F238E27FC236}">
                <a16:creationId xmlns:a16="http://schemas.microsoft.com/office/drawing/2014/main" id="{23C53EAA-A206-F298-EF6E-F29657381FB2}"/>
              </a:ext>
            </a:extLst>
          </p:cNvPr>
          <p:cNvSpPr txBox="1"/>
          <p:nvPr/>
        </p:nvSpPr>
        <p:spPr>
          <a:xfrm>
            <a:off x="685800" y="8793299"/>
            <a:ext cx="16230593" cy="846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5"/>
              </a:lnSpc>
            </a:pPr>
            <a:r>
              <a:rPr lang="en-US" sz="2400" b="1" spc="300" dirty="0">
                <a:solidFill>
                  <a:srgbClr val="2B2C30"/>
                </a:solidFill>
                <a:latin typeface="Poppins SemiBold" panose="00000700000000000000" pitchFamily="2" charset="0"/>
                <a:ea typeface="Playfair Display"/>
                <a:cs typeface="Poppins SemiBold" panose="00000700000000000000" pitchFamily="2" charset="0"/>
                <a:sym typeface="Playfair Display"/>
              </a:rPr>
              <a:t>TRACK B: RESPECT-BASED LEADERSHIP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06883" y="916067"/>
            <a:ext cx="16230600" cy="571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THIS INVESTMENT SUPPORTS: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6883" y="5490954"/>
            <a:ext cx="3761659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Respect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6407" y="3706734"/>
            <a:ext cx="4698594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5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Fair Work Dimensions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CF6044B2-1002-CF5A-1FC3-15687FC1A825}"/>
              </a:ext>
            </a:extLst>
          </p:cNvPr>
          <p:cNvSpPr txBox="1"/>
          <p:nvPr/>
        </p:nvSpPr>
        <p:spPr>
          <a:xfrm>
            <a:off x="1016406" y="6382512"/>
            <a:ext cx="3761659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Fulfilment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85C6AF6-7402-243A-D0E7-D6F61B10DC2D}"/>
              </a:ext>
            </a:extLst>
          </p:cNvPr>
          <p:cNvSpPr txBox="1"/>
          <p:nvPr/>
        </p:nvSpPr>
        <p:spPr>
          <a:xfrm>
            <a:off x="1028695" y="4599397"/>
            <a:ext cx="3761659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Opportunity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783B0E6B-857C-4C6A-3BF5-3738B33AF4F2}"/>
              </a:ext>
            </a:extLst>
          </p:cNvPr>
          <p:cNvSpPr txBox="1"/>
          <p:nvPr/>
        </p:nvSpPr>
        <p:spPr>
          <a:xfrm>
            <a:off x="6477000" y="3695700"/>
            <a:ext cx="592334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5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Responsible Management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37D17F51-CA90-BCC2-6417-FFA20A48DF6D}"/>
              </a:ext>
            </a:extLst>
          </p:cNvPr>
          <p:cNvSpPr txBox="1"/>
          <p:nvPr/>
        </p:nvSpPr>
        <p:spPr>
          <a:xfrm>
            <a:off x="6477000" y="4599397"/>
            <a:ext cx="5410200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Laasch (2024): Stakeholder value &amp; accountability</a:t>
            </a: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173ECDD5-B84C-47DE-633A-56F3B9A7252D}"/>
              </a:ext>
            </a:extLst>
          </p:cNvPr>
          <p:cNvSpPr txBox="1"/>
          <p:nvPr/>
        </p:nvSpPr>
        <p:spPr>
          <a:xfrm>
            <a:off x="12611816" y="5905500"/>
            <a:ext cx="4708118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ESG 'S' Factor – Human Capital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C8592266-BD7E-91E0-C3D4-D90906B14FB0}"/>
              </a:ext>
            </a:extLst>
          </p:cNvPr>
          <p:cNvSpPr txBox="1"/>
          <p:nvPr/>
        </p:nvSpPr>
        <p:spPr>
          <a:xfrm>
            <a:off x="12621340" y="3706734"/>
            <a:ext cx="4698594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5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Global Commitments</a:t>
            </a: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04EEBDC4-0AD4-0A82-485A-847180D2D015}"/>
              </a:ext>
            </a:extLst>
          </p:cNvPr>
          <p:cNvSpPr txBox="1"/>
          <p:nvPr/>
        </p:nvSpPr>
        <p:spPr>
          <a:xfrm>
            <a:off x="12633628" y="4599397"/>
            <a:ext cx="4816172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UN SDG 8 – Decent Work</a:t>
            </a:r>
          </a:p>
        </p:txBody>
      </p:sp>
      <p:sp>
        <p:nvSpPr>
          <p:cNvPr id="31" name="AutoShape 3">
            <a:extLst>
              <a:ext uri="{FF2B5EF4-FFF2-40B4-BE49-F238E27FC236}">
                <a16:creationId xmlns:a16="http://schemas.microsoft.com/office/drawing/2014/main" id="{6F9B8667-97E5-E5D0-4011-1747A2ABAE6F}"/>
              </a:ext>
            </a:extLst>
          </p:cNvPr>
          <p:cNvSpPr/>
          <p:nvPr/>
        </p:nvSpPr>
        <p:spPr>
          <a:xfrm flipH="1">
            <a:off x="5935999" y="2561949"/>
            <a:ext cx="38095" cy="58580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7A54A0B0-203E-DCA7-DF20-9330E2FFB5DC}"/>
              </a:ext>
            </a:extLst>
          </p:cNvPr>
          <p:cNvSpPr/>
          <p:nvPr/>
        </p:nvSpPr>
        <p:spPr>
          <a:xfrm flipH="1">
            <a:off x="12230105" y="2552700"/>
            <a:ext cx="38095" cy="58580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22EC3-0597-7E1F-4B27-73DCF6D64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image of a cube&#10;&#10;AI-generated content may be incorrect.">
            <a:extLst>
              <a:ext uri="{FF2B5EF4-FFF2-40B4-BE49-F238E27FC236}">
                <a16:creationId xmlns:a16="http://schemas.microsoft.com/office/drawing/2014/main" id="{C591FC7A-5A61-17C6-E3A5-4875E141E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485385"/>
            <a:ext cx="11195777" cy="6212003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76D0AC46-25D4-E0B3-D804-AE989B598C1E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FCFF58C-7579-AD3B-F562-87346B920953}"/>
              </a:ext>
            </a:extLst>
          </p:cNvPr>
          <p:cNvSpPr txBox="1"/>
          <p:nvPr/>
        </p:nvSpPr>
        <p:spPr>
          <a:xfrm>
            <a:off x="1006883" y="916067"/>
            <a:ext cx="16230600" cy="571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BACKED BY DATA, RESEARCH &amp; PRACTICE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2514599" y="7980064"/>
            <a:ext cx="4076711" cy="546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5235"/>
              </a:lnSpc>
            </a:pPr>
            <a:r>
              <a:rPr lang="en-IN" sz="1400" b="1" dirty="0"/>
              <a:t>LinkedIn (2022), Amdocs (2023)</a:t>
            </a:r>
            <a:endParaRPr lang="en-US" sz="1400" b="1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CB15B5C1-9B4D-471B-7C79-70CCCF359A8B}"/>
              </a:ext>
            </a:extLst>
          </p:cNvPr>
          <p:cNvSpPr txBox="1"/>
          <p:nvPr/>
        </p:nvSpPr>
        <p:spPr>
          <a:xfrm>
            <a:off x="2514600" y="4870411"/>
            <a:ext cx="4076711" cy="546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5235"/>
              </a:lnSpc>
            </a:pPr>
            <a:r>
              <a:rPr lang="da-DK" sz="1400" b="1" dirty="0"/>
              <a:t>Adobe, Barends et al. (2022)</a:t>
            </a:r>
            <a:endParaRPr lang="en-US" sz="1400" b="1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5D5CC69A-FCC2-F33D-6624-2D95487712BF}"/>
              </a:ext>
            </a:extLst>
          </p:cNvPr>
          <p:cNvSpPr txBox="1"/>
          <p:nvPr/>
        </p:nvSpPr>
        <p:spPr>
          <a:xfrm>
            <a:off x="10972800" y="4870410"/>
            <a:ext cx="4076711" cy="546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5235"/>
              </a:lnSpc>
            </a:pPr>
            <a:r>
              <a:rPr lang="da-DK" sz="1400" b="1" dirty="0"/>
              <a:t>Bloom et al. (2024), CIPD (2023)</a:t>
            </a:r>
            <a:endParaRPr lang="en-US" sz="1400" b="1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76B2D66C-6A2A-C2FE-8C34-3B334520B569}"/>
              </a:ext>
            </a:extLst>
          </p:cNvPr>
          <p:cNvSpPr txBox="1"/>
          <p:nvPr/>
        </p:nvSpPr>
        <p:spPr>
          <a:xfrm>
            <a:off x="11125200" y="7980063"/>
            <a:ext cx="4076711" cy="546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5235"/>
              </a:lnSpc>
            </a:pPr>
            <a:r>
              <a:rPr lang="en-IN" sz="1400" b="1" dirty="0"/>
              <a:t>Bakker &amp; Demerouti (2007), Tims et al. (2013)</a:t>
            </a:r>
            <a:endParaRPr lang="en-US" sz="1400" b="1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  <p:extLst>
      <p:ext uri="{BB962C8B-B14F-4D97-AF65-F5344CB8AC3E}">
        <p14:creationId xmlns:p14="http://schemas.microsoft.com/office/powerpoint/2010/main" val="2495413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168E9-D90D-4867-5B08-911627D17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DB3D7091-9886-2E4B-2879-EF5489C84E8E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3710B51-48D5-A2D9-B689-B10C400FC461}"/>
              </a:ext>
            </a:extLst>
          </p:cNvPr>
          <p:cNvSpPr txBox="1"/>
          <p:nvPr/>
        </p:nvSpPr>
        <p:spPr>
          <a:xfrm>
            <a:off x="1006883" y="916067"/>
            <a:ext cx="16230600" cy="571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STRATEGIC BUSINESS AND SOCIAL VALUE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670BEEB-7DF1-73A6-1313-F053BE71E6C9}"/>
              </a:ext>
            </a:extLst>
          </p:cNvPr>
          <p:cNvSpPr txBox="1"/>
          <p:nvPr/>
        </p:nvSpPr>
        <p:spPr>
          <a:xfrm>
            <a:off x="1016407" y="3238500"/>
            <a:ext cx="4698594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5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Business Benefits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18CC7BBC-3116-6CB6-6992-0F2C329A0693}"/>
              </a:ext>
            </a:extLst>
          </p:cNvPr>
          <p:cNvSpPr txBox="1"/>
          <p:nvPr/>
        </p:nvSpPr>
        <p:spPr>
          <a:xfrm>
            <a:off x="1028696" y="4131163"/>
            <a:ext cx="7467610" cy="4053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Lower attrition (up to –30%)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Higher engagement &amp; innovation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Reduced hiring costs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Leadership capability uplift</a:t>
            </a:r>
          </a:p>
        </p:txBody>
      </p:sp>
      <p:sp>
        <p:nvSpPr>
          <p:cNvPr id="31" name="AutoShape 3">
            <a:extLst>
              <a:ext uri="{FF2B5EF4-FFF2-40B4-BE49-F238E27FC236}">
                <a16:creationId xmlns:a16="http://schemas.microsoft.com/office/drawing/2014/main" id="{D5779F6D-D332-C070-8B63-199F76BE95A4}"/>
              </a:ext>
            </a:extLst>
          </p:cNvPr>
          <p:cNvSpPr/>
          <p:nvPr/>
        </p:nvSpPr>
        <p:spPr>
          <a:xfrm flipH="1">
            <a:off x="8724905" y="2866891"/>
            <a:ext cx="38095" cy="58580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13B8A04D-CC88-DE79-BEA3-991FF140BC83}"/>
              </a:ext>
            </a:extLst>
          </p:cNvPr>
          <p:cNvSpPr txBox="1"/>
          <p:nvPr/>
        </p:nvSpPr>
        <p:spPr>
          <a:xfrm>
            <a:off x="9448800" y="3178282"/>
            <a:ext cx="4698594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5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Social &amp; ESG Value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CA61E38-575E-02D2-25F8-E02D9AF15BEF}"/>
              </a:ext>
            </a:extLst>
          </p:cNvPr>
          <p:cNvSpPr txBox="1"/>
          <p:nvPr/>
        </p:nvSpPr>
        <p:spPr>
          <a:xfrm>
            <a:off x="9421090" y="4070536"/>
            <a:ext cx="8371621" cy="4053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Enhanced EVP &amp; employer brand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Decent Work (SDG 8)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Stronger trust, wellbeing &amp; inclusion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Aligns with ESG-Human Capital (‘S’)</a:t>
            </a:r>
          </a:p>
        </p:txBody>
      </p:sp>
    </p:spTree>
    <p:extLst>
      <p:ext uri="{BB962C8B-B14F-4D97-AF65-F5344CB8AC3E}">
        <p14:creationId xmlns:p14="http://schemas.microsoft.com/office/powerpoint/2010/main" val="905828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1F2523-643C-20CA-7808-39BE35FF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A1284896-5085-F0D7-BAF8-75B29DC2C42F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C7C6787-762F-A2B7-DCCC-348360B70438}"/>
              </a:ext>
            </a:extLst>
          </p:cNvPr>
          <p:cNvSpPr txBox="1"/>
          <p:nvPr/>
        </p:nvSpPr>
        <p:spPr>
          <a:xfrm>
            <a:off x="1006883" y="916067"/>
            <a:ext cx="16230600" cy="571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RISKS &amp; MITIGATION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F922A75-46AC-D74A-9B7D-9257F0F132B5}"/>
              </a:ext>
            </a:extLst>
          </p:cNvPr>
          <p:cNvSpPr txBox="1"/>
          <p:nvPr/>
        </p:nvSpPr>
        <p:spPr>
          <a:xfrm>
            <a:off x="6406589" y="2323129"/>
            <a:ext cx="4698594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5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Risk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FE51F02-F583-527C-00F2-602E95386BEF}"/>
              </a:ext>
            </a:extLst>
          </p:cNvPr>
          <p:cNvSpPr txBox="1"/>
          <p:nvPr/>
        </p:nvSpPr>
        <p:spPr>
          <a:xfrm>
            <a:off x="3872937" y="3308062"/>
            <a:ext cx="5067305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Manager resistance	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EC0728BB-90EE-668A-FE9D-BC3E81D2E650}"/>
              </a:ext>
            </a:extLst>
          </p:cNvPr>
          <p:cNvSpPr txBox="1"/>
          <p:nvPr/>
        </p:nvSpPr>
        <p:spPr>
          <a:xfrm>
            <a:off x="11105183" y="2414226"/>
            <a:ext cx="592334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5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Mitigation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6855C936-DFD2-A673-326B-8B396957F0A1}"/>
              </a:ext>
            </a:extLst>
          </p:cNvPr>
          <p:cNvSpPr txBox="1"/>
          <p:nvPr/>
        </p:nvSpPr>
        <p:spPr>
          <a:xfrm>
            <a:off x="9887647" y="3144841"/>
            <a:ext cx="69342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Early involvement, co-design, peer-led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E444B-35AF-A73C-CFE3-EDF988A68EBB}"/>
              </a:ext>
            </a:extLst>
          </p:cNvPr>
          <p:cNvSpPr txBox="1"/>
          <p:nvPr/>
        </p:nvSpPr>
        <p:spPr>
          <a:xfrm>
            <a:off x="3581400" y="5034125"/>
            <a:ext cx="5067305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Low employee uptake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92D56D1-1AD7-62C1-D356-D066A19820AA}"/>
              </a:ext>
            </a:extLst>
          </p:cNvPr>
          <p:cNvSpPr txBox="1"/>
          <p:nvPr/>
        </p:nvSpPr>
        <p:spPr>
          <a:xfrm>
            <a:off x="9887647" y="4806703"/>
            <a:ext cx="69342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Use internal champions, celebrate early wins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EEDAF2-DF49-9A89-4FAF-09465337F3D2}"/>
              </a:ext>
            </a:extLst>
          </p:cNvPr>
          <p:cNvSpPr txBox="1"/>
          <p:nvPr/>
        </p:nvSpPr>
        <p:spPr>
          <a:xfrm>
            <a:off x="2162501" y="6437310"/>
            <a:ext cx="60960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Short-term time/resource pressure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214679C-A137-8A74-27D0-717671FAB713}"/>
              </a:ext>
            </a:extLst>
          </p:cNvPr>
          <p:cNvSpPr txBox="1"/>
          <p:nvPr/>
        </p:nvSpPr>
        <p:spPr>
          <a:xfrm>
            <a:off x="9906000" y="6394240"/>
            <a:ext cx="69342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Phase delivery, embed in existing systems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2E336B-9DE4-02CC-CF06-FA68652DB270}"/>
              </a:ext>
            </a:extLst>
          </p:cNvPr>
          <p:cNvSpPr txBox="1"/>
          <p:nvPr/>
        </p:nvSpPr>
        <p:spPr>
          <a:xfrm>
            <a:off x="4800600" y="8457757"/>
            <a:ext cx="60960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ROI uncertainty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0E0BB56C-7E01-663A-E32A-80BC20AD97B4}"/>
              </a:ext>
            </a:extLst>
          </p:cNvPr>
          <p:cNvSpPr txBox="1"/>
          <p:nvPr/>
        </p:nvSpPr>
        <p:spPr>
          <a:xfrm>
            <a:off x="9906000" y="8223040"/>
            <a:ext cx="69342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spc="18" dirty="0">
                <a:solidFill>
                  <a:srgbClr val="2B2C30"/>
                </a:solidFill>
                <a:latin typeface="Public Sans" panose="020B0604020202020204" charset="0"/>
                <a:ea typeface="Playfair Display Italics"/>
                <a:cs typeface="Playfair Display Italics"/>
                <a:sym typeface="Playfair Display Italics"/>
              </a:rPr>
              <a:t>Track outcomes: attrition, mobility, feedback data</a:t>
            </a:r>
          </a:p>
        </p:txBody>
      </p:sp>
      <p:pic>
        <p:nvPicPr>
          <p:cNvPr id="15" name="Graphic 14" descr="Circle with left arrow outline">
            <a:extLst>
              <a:ext uri="{FF2B5EF4-FFF2-40B4-BE49-F238E27FC236}">
                <a16:creationId xmlns:a16="http://schemas.microsoft.com/office/drawing/2014/main" id="{EF588991-BB41-7C7D-C61B-E7D0DDF5B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4847" y="2904229"/>
            <a:ext cx="1393574" cy="1393574"/>
          </a:xfrm>
          <a:prstGeom prst="rect">
            <a:avLst/>
          </a:prstGeom>
        </p:spPr>
      </p:pic>
      <p:pic>
        <p:nvPicPr>
          <p:cNvPr id="16" name="Graphic 15" descr="Circle with left arrow outline">
            <a:extLst>
              <a:ext uri="{FF2B5EF4-FFF2-40B4-BE49-F238E27FC236}">
                <a16:creationId xmlns:a16="http://schemas.microsoft.com/office/drawing/2014/main" id="{B220907F-6F38-0294-C30E-2F59CBAA8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4847" y="4588126"/>
            <a:ext cx="1393574" cy="1393574"/>
          </a:xfrm>
          <a:prstGeom prst="rect">
            <a:avLst/>
          </a:prstGeom>
        </p:spPr>
      </p:pic>
      <p:pic>
        <p:nvPicPr>
          <p:cNvPr id="17" name="Graphic 16" descr="Circle with left arrow outline">
            <a:extLst>
              <a:ext uri="{FF2B5EF4-FFF2-40B4-BE49-F238E27FC236}">
                <a16:creationId xmlns:a16="http://schemas.microsoft.com/office/drawing/2014/main" id="{A59A2E70-288A-2B93-9B03-C3E66BBC0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5800" y="6294521"/>
            <a:ext cx="1393574" cy="1393574"/>
          </a:xfrm>
          <a:prstGeom prst="rect">
            <a:avLst/>
          </a:prstGeom>
        </p:spPr>
      </p:pic>
      <p:pic>
        <p:nvPicPr>
          <p:cNvPr id="20" name="Graphic 19" descr="Circle with left arrow outline">
            <a:extLst>
              <a:ext uri="{FF2B5EF4-FFF2-40B4-BE49-F238E27FC236}">
                <a16:creationId xmlns:a16="http://schemas.microsoft.com/office/drawing/2014/main" id="{4A614D9C-59C3-4591-A203-087520EB7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0" y="8093326"/>
            <a:ext cx="1393574" cy="139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32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EF7EB-44DA-347A-7526-92CF196D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0CDFDF51-2090-AF0D-EA6E-2637E7665C44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961C05E-41A7-1FD0-66D7-3CF868DDBEB8}"/>
              </a:ext>
            </a:extLst>
          </p:cNvPr>
          <p:cNvSpPr txBox="1"/>
          <p:nvPr/>
        </p:nvSpPr>
        <p:spPr>
          <a:xfrm>
            <a:off x="1006883" y="916067"/>
            <a:ext cx="16230600" cy="571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CLOSING ASK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B89B9D-82CB-DAAF-C0C5-2FCF518CF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603042"/>
            <a:ext cx="10615866" cy="4216858"/>
          </a:xfrm>
          <a:prstGeom prst="rect">
            <a:avLst/>
          </a:prstGeom>
        </p:spPr>
      </p:pic>
      <p:sp>
        <p:nvSpPr>
          <p:cNvPr id="18" name="TextBox 2">
            <a:extLst>
              <a:ext uri="{FF2B5EF4-FFF2-40B4-BE49-F238E27FC236}">
                <a16:creationId xmlns:a16="http://schemas.microsoft.com/office/drawing/2014/main" id="{0C109B3B-5F42-B81C-9260-286EDA2D26EF}"/>
              </a:ext>
            </a:extLst>
          </p:cNvPr>
          <p:cNvSpPr txBox="1"/>
          <p:nvPr/>
        </p:nvSpPr>
        <p:spPr>
          <a:xfrm>
            <a:off x="1617513" y="8070273"/>
            <a:ext cx="16649705" cy="935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65"/>
              </a:lnSpc>
            </a:pPr>
            <a:r>
              <a:rPr lang="en-US" sz="6050" i="1" spc="3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“Fair Work is not just a value, it’s a strategy.”</a:t>
            </a:r>
          </a:p>
        </p:txBody>
      </p:sp>
    </p:spTree>
    <p:extLst>
      <p:ext uri="{BB962C8B-B14F-4D97-AF65-F5344CB8AC3E}">
        <p14:creationId xmlns:p14="http://schemas.microsoft.com/office/powerpoint/2010/main" val="3090560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06882" y="4728792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974" y="2332416"/>
            <a:ext cx="16408332" cy="19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Q&amp;A</a:t>
            </a:r>
          </a:p>
        </p:txBody>
      </p:sp>
      <p:pic>
        <p:nvPicPr>
          <p:cNvPr id="8" name="Picture 4" descr="TransUnion | Partners | Alloy">
            <a:extLst>
              <a:ext uri="{FF2B5EF4-FFF2-40B4-BE49-F238E27FC236}">
                <a16:creationId xmlns:a16="http://schemas.microsoft.com/office/drawing/2014/main" id="{F38D9E97-55E3-17D5-43DB-256651DE5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5200" y="8900457"/>
            <a:ext cx="2501826" cy="652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2334</Words>
  <Application>Microsoft Office PowerPoint</Application>
  <PresentationFormat>Custom</PresentationFormat>
  <Paragraphs>208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Public Sans Bold</vt:lpstr>
      <vt:lpstr>Poppins SemiBold</vt:lpstr>
      <vt:lpstr>Playfair Display</vt:lpstr>
      <vt:lpstr>Symbol</vt:lpstr>
      <vt:lpstr>Arial</vt:lpstr>
      <vt:lpstr>Calibri</vt:lpstr>
      <vt:lpstr>Playfair Display Italics</vt:lpstr>
      <vt:lpstr>Public Sans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Arnav Mishra</dc:creator>
  <cp:lastModifiedBy>Arnav Mishra</cp:lastModifiedBy>
  <cp:revision>2</cp:revision>
  <dcterms:created xsi:type="dcterms:W3CDTF">2006-08-16T00:00:00Z</dcterms:created>
  <dcterms:modified xsi:type="dcterms:W3CDTF">2025-05-08T02:48:13Z</dcterms:modified>
  <dc:identifier>DAGmyctVZGc</dc:identifier>
</cp:coreProperties>
</file>